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82ae512-fdb3-1f7d-d6e1-97b07a0780ed}">
          <p14:sldIdLst>
            <p14:sldId id="256"/>
            <p14:sldId id="257"/>
            <p14:sldId id="258"/>
            <p14:sldId id="259"/>
            <p14:sldId id="260"/>
            <p14:sldId id="261"/>
            <p14:sldId id="262"/>
          </p14:sldIdLst>
        </p14:section>
        <p14:section name="Data &amp; Cleaning" id="{8a9c1457-709f-bc98-79a7-8f8c7c184a8e}">
          <p14:sldIdLst>
            <p14:sldId id="263"/>
            <p14:sldId id="264"/>
          </p14:sldIdLst>
        </p14:section>
        <p14:section name="Exploration" id="{2de75c1c-8ae6-0674-1931-5fca8df779fa}">
          <p14:sldIdLst>
            <p14:sldId id="265"/>
            <p14:sldId id="266"/>
            <p14:sldId id="267"/>
          </p14:sldIdLst>
        </p14:section>
        <p14:section name="Analysis Questions" id="{adeb1962-bc89-1a60-f20f-a70cbd170fce}">
          <p14:sldIdLst>
            <p14:sldId id="268"/>
            <p14:sldId id="269"/>
            <p14:sldId id="270"/>
            <p14:sldId id="271"/>
            <p14:sldId id="272"/>
            <p14:sldId id="273"/>
          </p14:sldIdLst>
        </p14:section>
        <p14:section name="Results" id="{e7136708-1499-0279-967b-1e83e628176c}">
          <p14:sldIdLst>
            <p14:sldId id="274"/>
            <p14:sldId id="275"/>
          </p14:sldIdLst>
        </p14:section>
        <p14:section name="Dashboard" id="{38b58329-a5ca-d011-e8e1-614c165545e4}">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4A"/>
                </a:solidFill>
                <a:latin typeface="+mn-lt"/>
              </a:defRPr>
            </a:pPr>
            <a:r>
              <a:rPr sz="1400" b="0" i="0" u="none" strike="noStrike">
                <a:solidFill>
                  <a:srgbClr val="0B3B4A"/>
                </a:solidFill>
                <a:latin typeface="+mn-lt"/>
              </a:rPr>
              <a:t>% of Poor credit scores by customer segment</a:t>
            </a:r>
          </a:p>
        </c:rich>
      </c:tx>
      <c:layout/>
      <c:overlay val="0"/>
    </c:title>
    <c:autoTitleDeleted val="0"/>
    <c:plotArea>
      <c:layout/>
      <c:barChart>
        <c:barDir val="bar"/>
        <c:grouping val="clustered"/>
        <c:varyColors val="0"/>
        <c:ser>
          <c:idx val="0"/>
          <c:order val="0"/>
          <c:tx>
            <c:strRef>
              <c:f>Sheet1!$B$1</c:f>
              <c:strCache>
                <c:ptCount val="1"/>
                <c:pt idx="0">
                  <c:v>% Poor</c:v>
                </c:pt>
              </c:strCache>
            </c:strRef>
          </c:tx>
          <c:spPr>
            <a:solidFill>
              <a:srgbClr val="DC2626"/>
            </a:solidFill>
            <a:effectLst/>
          </c:spPr>
          <c:invertIfNegative val="0"/>
          <c:dLbls>
            <c:numFmt formatCode="0.0&quot;%&quot;" sourceLinked="0"/>
            <c:txPr>
              <a:bodyPr/>
              <a:lstStyle/>
              <a:p>
                <a:pPr>
                  <a:defRPr b="0" i="0" strike="noStrike" sz="1200" u="none">
                    <a:solidFill>
                      <a:srgbClr val="334155"/>
                    </a:solidFill>
                    <a:latin typeface="+mn-lt"/>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DC2626"/>
              </a:solidFill>
              <a:effectLst/>
            </c:spPr>
          </c:dPt>
          <c:dPt>
            <c:idx val="2"/>
            <c:invertIfNegative val="0"/>
            <c:bubble3D val="0"/>
            <c:spPr>
              <a:solidFill>
                <a:srgbClr val="DC2626"/>
              </a:solidFill>
              <a:effectLst/>
            </c:spPr>
          </c:dPt>
          <c:dPt>
            <c:idx val="3"/>
            <c:invertIfNegative val="0"/>
            <c:bubble3D val="0"/>
            <c:spPr>
              <a:solidFill>
                <a:srgbClr val="DC2626"/>
              </a:solidFill>
              <a:effectLst/>
            </c:spPr>
          </c:dPt>
          <c:dPt>
            <c:idx val="4"/>
            <c:invertIfNegative val="0"/>
            <c:bubble3D val="0"/>
            <c:spPr>
              <a:solidFill>
                <a:srgbClr val="64748B"/>
              </a:solidFill>
              <a:effectLst/>
            </c:spPr>
          </c:dPt>
          <c:dPt>
            <c:idx val="5"/>
            <c:invertIfNegative val="0"/>
            <c:bubble3D val="0"/>
            <c:spPr>
              <a:solidFill>
                <a:srgbClr val="16A34A"/>
              </a:solidFill>
              <a:effectLst/>
            </c:spPr>
          </c:dPt>
          <c:dPt>
            <c:idx val="6"/>
            <c:invertIfNegative val="0"/>
            <c:bubble3D val="0"/>
            <c:spPr>
              <a:solidFill>
                <a:srgbClr val="16A34A"/>
              </a:solidFill>
              <a:effectLst/>
            </c:spPr>
          </c:dPt>
          <c:dPt>
            <c:idx val="7"/>
            <c:invertIfNegative val="0"/>
            <c:bubble3D val="0"/>
            <c:spPr>
              <a:solidFill>
                <a:srgbClr val="16A34A"/>
              </a:solidFill>
              <a:effectLst/>
            </c:spPr>
          </c:dPt>
          <c:dPt>
            <c:idx val="8"/>
            <c:invertIfNegative val="0"/>
            <c:bubble3D val="0"/>
            <c:spPr>
              <a:solidFill>
                <a:srgbClr val="16A34A"/>
              </a:solidFill>
              <a:effectLst/>
            </c:spPr>
          </c:dPt>
          <c:cat>
            <c:multiLvlStrRef>
              <c:f>Sheet1!$A$2:$A$10</c:f>
              <c:multiLvlStrCache>
                <c:ptCount val="9"/>
                <c:lvl>
                  <c:pt idx="0">
                    <c:v>8+ credit cards</c:v>
                  </c:pt>
                  <c:pt idx="1">
                    <c:v>Bad credit mix</c:v>
                  </c:pt>
                  <c:pt idx="2">
                    <c:v>5+ loans</c:v>
                  </c:pt>
                  <c:pt idx="3">
                    <c:v>Pays only minimum</c:v>
                  </c:pt>
                  <c:pt idx="4">
                    <c:v>All customers</c:v>
                  </c:pt>
                  <c:pt idx="5">
                    <c:v>Good credit mix</c:v>
                  </c:pt>
                  <c:pt idx="6">
                    <c:v>Aged 45+</c:v>
                  </c:pt>
                  <c:pt idx="7">
                    <c:v>Pays more than minimum</c:v>
                  </c:pt>
                  <c:pt idx="8">
                    <c:v>0–2 credit cards</c:v>
                  </c:pt>
                </c:lvl>
              </c:multiLvlStrCache>
            </c:multiLvlStrRef>
          </c:cat>
          <c:val>
            <c:numRef>
              <c:f>Sheet1!$B$2:$B$10</c:f>
              <c:numCache>
                <c:formatCode>General</c:formatCode>
                <c:ptCount val="9"/>
                <c:pt idx="0">
                  <c:v>62.7</c:v>
                </c:pt>
                <c:pt idx="1">
                  <c:v>60.1</c:v>
                </c:pt>
                <c:pt idx="2">
                  <c:v>52.2</c:v>
                </c:pt>
                <c:pt idx="3">
                  <c:v>39.6</c:v>
                </c:pt>
                <c:pt idx="4">
                  <c:v>29.1</c:v>
                </c:pt>
                <c:pt idx="5">
                  <c:v>16.1</c:v>
                </c:pt>
                <c:pt idx="6">
                  <c:v>15.5</c:v>
                </c:pt>
                <c:pt idx="7">
                  <c:v>13.5</c:v>
                </c:pt>
                <c:pt idx="8">
                  <c:v>0.4</c:v>
                </c:pt>
              </c:numCache>
            </c:numRef>
          </c:val>
        </c:ser>
        <c:dLbls>
          <c:numFmt formatCode="0.0&quot;%&quot;" sourceLinked="0"/>
          <c:txPr>
            <a:bodyPr/>
            <a:lstStyle/>
            <a:p>
              <a:pPr>
                <a:defRPr b="0" i="0" strike="noStrike" sz="1200" u="none">
                  <a:solidFill>
                    <a:srgbClr val="33415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7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exploratory analysis of a real-world, messy credit dataset, the cleaning it needed, six analysis questions, and a Streamlit dashboard that presents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scoring is how banks summarise a customer's risk. The score affects approvals, limits and interest. This dataset labels each customer-month as Poor, Standard or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Kaggle. Each customer appears once per month for eight months. Columns cover the customer, their accounts and loans, payment behaviour, debt and their credit profile, plus the target: the credit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28 original columns as they come in train.csv, before any cleaning: identifiers, personal details and the first financial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columns: payment behaviour, debt, credit profile and the target, Credit_Score.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Kaggle published this data for a classification task, so it is split into train and test. Both cover the same customers; test continues their history but without the score. For an exploratory analysis of the score we need the labelled file, so only train.csv is used. test.csv stays in the repo for a later machine-learning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structure the analysis. Q1 focuses on occupation; the others look at income, payment behaviour, debt, number of credit products, and credit history and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proves the dataset was not clean: numbers stored as text with underscores, physically impossible values, placeholder and garbage strings, and missing values of up to fifteen percent in some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cleaning followed four steps. The key idea is to repair each value from the same customer's other months, because a customer's income, age and job stay stable. Two reusable functions handle impossible values and sudden spikes. The result: 95,652 rows, no missing values and no duplicates, saved as cleaned_data.parquet.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variable: over half the records are Standard, 29% Poor and only 18% Good. This imbalance matters if we later build a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Histograms with box plots for numeric columns and bar charts for categorical ones. Income and debt are right-skewed, credit history is spread widely, most customers have a Standard credit mix and over half pay only the minimum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 heatmap shows a cluster of risk signals that move together, and that customers with longer credit histories have less debt and fewer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about occupation: every job has between 26 and 31 percent Poor scores, so the job itself says very little. Writers have the fewest Good scores at 14 percent. Income is also similar across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customers earn more — around 45 thousand versus 32 thousand for Poor. Splitting customers into income quarters shows the lowest group is much more likely to be Poor, but the trend isn't perfectly smooth, so income alone doesn't decide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behaviour is one of the clearest signals. Poor customers pay a median of 27 days late compared with 10 for Good. Those who pay only the minimum are almost never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Poor customers owe about 2.6 times more and pay three times the interest rate. In the scatter plot, Good scores cluster at low debt and low interest. Credit utilization, surprisingly, is the same for every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 of Poor scores climbs in steps as customers hold more credit cards, bank accounts and loans. With two cards or fewer, almost nobody is Poor; with eight or more, nearly two thirds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with longer credit histories score better, and credit mix shows the largest difference of all categorical columns: a Bad mix is sixty percent Poor, a Good mix is almost half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it together: the share of Poor scores ranges from almost zero to over sixty percent depending on credit behaviour, while occupation barely matters. The recommendation is to focus on how customers use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each grading criterion to where the project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are also available as a Streamlit dashboard with filters, four analysis pages and a voice assistant that answers questions in Egyptian Arabic and shows the relevant KPIs and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next step is the machine-learning phase this dataset was built for: train a model on the cleaned training data and predict the scores in test.csv.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3B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58368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640080" y="3886200"/>
            <a:ext cx="6583680" cy="914400"/>
          </a:xfrm>
          <a:prstGeom prst="rect">
            <a:avLst/>
          </a:prstGeom>
          <a:noFill/>
          <a:ln/>
        </p:spPr>
        <p:txBody>
          <a:bodyPr wrap="square" rtlCol="0"/>
          <a:lstStyle>
            <a:lvl1pPr algn="l" indent="0" marL="0">
              <a:buNone/>
              <a:defRPr lang="en-US" sz="1800" dirty="0">
                <a:solidFill>
                  <a:srgbClr val="CFE9EF"/>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64748B"/>
                </a:solidFill>
              </a:rPr>
              <a:t>Credit Score Classification  ·  Exploratory Data Analysis</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58368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Credit Score Classification</a:t>
            </a:r>
            <a:endParaRPr lang="en-US" sz="4400" dirty="0"/>
          </a:p>
        </p:txBody>
      </p:sp>
      <p:sp>
        <p:nvSpPr>
          <p:cNvPr id="3" name="Text 0"/>
          <p:cNvSpPr/>
          <p:nvPr>
            <p:ph idx="101" type="body" hasCustomPrompt="1"/>
          </p:nvPr>
        </p:nvSpPr>
        <p:spPr>
          <a:xfrm>
            <a:off x="640080" y="3886200"/>
            <a:ext cx="6583680" cy="914400"/>
          </a:xfrm>
          <a:prstGeom prst="rect">
            <a:avLst/>
          </a:prstGeom>
          <a:noFill/>
          <a:ln/>
        </p:spPr>
        <p:txBody>
          <a:bodyPr wrap="square" lIns="0" tIns="0" rIns="0" bIns="0" rtlCol="0" anchor="t"/>
          <a:lstStyle/>
          <a:p>
            <a:pPr algn="l" indent="0" marL="0">
              <a:buNone/>
            </a:pPr>
            <a:r>
              <a:rPr lang="en-US" sz="1800" dirty="0">
                <a:solidFill>
                  <a:srgbClr val="CFE9EF"/>
                </a:solidFill>
              </a:rPr>
              <a:t>Exploratory Data Analysis and an interactive Streamlit dashboard</a:t>
            </a:r>
            <a:endParaRPr lang="en-US" sz="1800" dirty="0"/>
          </a:p>
        </p:txBody>
      </p:sp>
      <p:sp>
        <p:nvSpPr>
          <p:cNvPr id="4" name="author"/>
          <p:cNvSpPr txBox="1"/>
          <p:nvPr/>
        </p:nvSpPr>
        <p:spPr>
          <a:xfrm>
            <a:off x="640080" y="5852160"/>
            <a:ext cx="6858000" cy="365760"/>
          </a:xfrm>
          <a:prstGeom prst="rect">
            <a:avLst/>
          </a:prstGeom>
          <a:noFill/>
          <a:ln/>
        </p:spPr>
        <p:txBody>
          <a:bodyPr wrap="square" lIns="0" tIns="0" rIns="0" bIns="0" rtlCol="0" anchor="ctr"/>
          <a:lstStyle/>
          <a:p>
            <a:pPr indent="0" marL="0">
              <a:buNone/>
            </a:pPr>
            <a:r>
              <a:rPr lang="en-US" sz="1400" dirty="0">
                <a:solidFill>
                  <a:srgbClr val="9FD3DF"/>
                </a:solidFill>
              </a:rPr>
              <a:t>Marcellino Ashraf  ·  Data Science Diploma — Mid Project</a:t>
            </a:r>
            <a:endParaRPr lang="en-US" sz="1400" dirty="0"/>
          </a:p>
        </p:txBody>
      </p:sp>
      <p:pic>
        <p:nvPicPr>
          <p:cNvPr id="5" name="gauge illustration" descr="preencoded.png">    </p:cNvPr>
          <p:cNvPicPr>
            <a:picLocks noChangeAspect="1"/>
          </p:cNvPicPr>
          <p:nvPr/>
        </p:nvPicPr>
        <p:blipFill>
          <a:blip r:embed="rId1"/>
          <a:stretch>
            <a:fillRect/>
          </a:stretch>
        </p:blipFill>
        <p:spPr>
          <a:xfrm>
            <a:off x="7589520" y="1828800"/>
            <a:ext cx="4114800" cy="23739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THE FIELD</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Credit scoring decides who gets credit</a:t>
            </a:r>
            <a:endParaRPr lang="en-US" sz="3200" dirty="0"/>
          </a:p>
        </p:txBody>
      </p:sp>
      <p:sp>
        <p:nvSpPr>
          <p:cNvPr id="4" name="field card 1"/>
          <p:cNvSpPr/>
          <p:nvPr/>
        </p:nvSpPr>
        <p:spPr>
          <a:xfrm>
            <a:off x="548640" y="1600200"/>
            <a:ext cx="3474720" cy="3291840"/>
          </a:xfrm>
          <a:prstGeom prst="roundRect">
            <a:avLst>
              <a:gd name="adj" fmla="val 3333"/>
            </a:avLst>
          </a:prstGeom>
          <a:solidFill>
            <a:srgbClr val="EEF6F8"/>
          </a:solidFill>
          <a:ln w="12700">
            <a:solidFill>
              <a:srgbClr val="EEF6F8"/>
            </a:solidFill>
            <a:prstDash val="solid"/>
          </a:ln>
        </p:spPr>
      </p:sp>
      <p:sp>
        <p:nvSpPr>
          <p:cNvPr id="5" name="field 1 circle"/>
          <p:cNvSpPr/>
          <p:nvPr/>
        </p:nvSpPr>
        <p:spPr>
          <a:xfrm>
            <a:off x="868680" y="1874520"/>
            <a:ext cx="777240" cy="777240"/>
          </a:xfrm>
          <a:prstGeom prst="ellipse">
            <a:avLst/>
          </a:prstGeom>
          <a:solidFill>
            <a:srgbClr val="0E7490"/>
          </a:solidFill>
          <a:ln w="12700">
            <a:solidFill>
              <a:srgbClr val="0E7490"/>
            </a:solidFill>
            <a:prstDash val="solid"/>
          </a:ln>
        </p:spPr>
      </p:sp>
      <p:pic>
        <p:nvPicPr>
          <p:cNvPr id="6" name="field 1 icon" descr="preencoded.png">    </p:cNvPr>
          <p:cNvPicPr>
            <a:picLocks noChangeAspect="1"/>
          </p:cNvPicPr>
          <p:nvPr/>
        </p:nvPicPr>
        <p:blipFill>
          <a:blip r:embed="rId1"/>
          <a:stretch>
            <a:fillRect/>
          </a:stretch>
        </p:blipFill>
        <p:spPr>
          <a:xfrm>
            <a:off x="1078535" y="2084375"/>
            <a:ext cx="357530" cy="357530"/>
          </a:xfrm>
          <a:prstGeom prst="rect">
            <a:avLst/>
          </a:prstGeom>
        </p:spPr>
      </p:pic>
      <p:sp>
        <p:nvSpPr>
          <p:cNvPr id="7" name="field head 1"/>
          <p:cNvSpPr txBox="1"/>
          <p:nvPr/>
        </p:nvSpPr>
        <p:spPr>
          <a:xfrm>
            <a:off x="868680" y="2834640"/>
            <a:ext cx="2834640" cy="457200"/>
          </a:xfrm>
          <a:prstGeom prst="rect">
            <a:avLst/>
          </a:prstGeom>
          <a:noFill/>
          <a:ln/>
        </p:spPr>
        <p:txBody>
          <a:bodyPr wrap="square" lIns="0" tIns="0" rIns="0" bIns="0" rtlCol="0" anchor="ctr"/>
          <a:lstStyle/>
          <a:p>
            <a:pPr indent="0" marL="0">
              <a:buNone/>
            </a:pPr>
            <a:r>
              <a:rPr lang="en-US" sz="2000" b="1" dirty="0">
                <a:solidFill>
                  <a:schemeClr val="tx2"/>
                </a:solidFill>
              </a:rPr>
              <a:t>What it is</a:t>
            </a:r>
            <a:endParaRPr lang="en-US" sz="2000" dirty="0"/>
          </a:p>
        </p:txBody>
      </p:sp>
      <p:sp>
        <p:nvSpPr>
          <p:cNvPr id="8" name="field body 1"/>
          <p:cNvSpPr txBox="1"/>
          <p:nvPr/>
        </p:nvSpPr>
        <p:spPr>
          <a:xfrm>
            <a:off x="868680" y="3337560"/>
            <a:ext cx="2834640" cy="1371600"/>
          </a:xfrm>
          <a:prstGeom prst="rect">
            <a:avLst/>
          </a:prstGeom>
          <a:noFill/>
          <a:ln/>
        </p:spPr>
        <p:txBody>
          <a:bodyPr wrap="square" lIns="0" tIns="0" rIns="0" bIns="0" rtlCol="0" anchor="t"/>
          <a:lstStyle/>
          <a:p>
            <a:pPr indent="0" marL="0">
              <a:buNone/>
            </a:pPr>
            <a:r>
              <a:rPr lang="en-US" sz="1500" dirty="0">
                <a:solidFill>
                  <a:schemeClr val="tx1"/>
                </a:solidFill>
              </a:rPr>
              <a:t>Banks rate each customer's creditworthiness — how likely they are to repay what they borrow.</a:t>
            </a:r>
            <a:endParaRPr lang="en-US" sz="1500" dirty="0"/>
          </a:p>
        </p:txBody>
      </p:sp>
      <p:sp>
        <p:nvSpPr>
          <p:cNvPr id="9" name="field card 2"/>
          <p:cNvSpPr/>
          <p:nvPr/>
        </p:nvSpPr>
        <p:spPr>
          <a:xfrm>
            <a:off x="4297680" y="1600200"/>
            <a:ext cx="3474720" cy="3291840"/>
          </a:xfrm>
          <a:prstGeom prst="roundRect">
            <a:avLst>
              <a:gd name="adj" fmla="val 3333"/>
            </a:avLst>
          </a:prstGeom>
          <a:solidFill>
            <a:srgbClr val="EEF6F8"/>
          </a:solidFill>
          <a:ln w="12700">
            <a:solidFill>
              <a:srgbClr val="EEF6F8"/>
            </a:solidFill>
            <a:prstDash val="solid"/>
          </a:ln>
        </p:spPr>
      </p:sp>
      <p:sp>
        <p:nvSpPr>
          <p:cNvPr id="10" name="field 2 circle"/>
          <p:cNvSpPr/>
          <p:nvPr/>
        </p:nvSpPr>
        <p:spPr>
          <a:xfrm>
            <a:off x="4617720" y="1874520"/>
            <a:ext cx="777240" cy="777240"/>
          </a:xfrm>
          <a:prstGeom prst="ellipse">
            <a:avLst/>
          </a:prstGeom>
          <a:solidFill>
            <a:srgbClr val="0E7490"/>
          </a:solidFill>
          <a:ln w="12700">
            <a:solidFill>
              <a:srgbClr val="0E7490"/>
            </a:solidFill>
            <a:prstDash val="solid"/>
          </a:ln>
        </p:spPr>
      </p:sp>
      <p:pic>
        <p:nvPicPr>
          <p:cNvPr id="11" name="field 2 icon" descr="preencoded.png">    </p:cNvPr>
          <p:cNvPicPr>
            <a:picLocks noChangeAspect="1"/>
          </p:cNvPicPr>
          <p:nvPr/>
        </p:nvPicPr>
        <p:blipFill>
          <a:blip r:embed="rId2"/>
          <a:stretch>
            <a:fillRect/>
          </a:stretch>
        </p:blipFill>
        <p:spPr>
          <a:xfrm>
            <a:off x="4827575" y="2084375"/>
            <a:ext cx="357530" cy="357530"/>
          </a:xfrm>
          <a:prstGeom prst="rect">
            <a:avLst/>
          </a:prstGeom>
        </p:spPr>
      </p:pic>
      <p:sp>
        <p:nvSpPr>
          <p:cNvPr id="12" name="field head 2"/>
          <p:cNvSpPr txBox="1"/>
          <p:nvPr/>
        </p:nvSpPr>
        <p:spPr>
          <a:xfrm>
            <a:off x="4617720" y="2834640"/>
            <a:ext cx="2834640" cy="457200"/>
          </a:xfrm>
          <a:prstGeom prst="rect">
            <a:avLst/>
          </a:prstGeom>
          <a:noFill/>
          <a:ln/>
        </p:spPr>
        <p:txBody>
          <a:bodyPr wrap="square" lIns="0" tIns="0" rIns="0" bIns="0" rtlCol="0" anchor="ctr"/>
          <a:lstStyle/>
          <a:p>
            <a:pPr indent="0" marL="0">
              <a:buNone/>
            </a:pPr>
            <a:r>
              <a:rPr lang="en-US" sz="2000" b="1" dirty="0">
                <a:solidFill>
                  <a:schemeClr val="tx2"/>
                </a:solidFill>
              </a:rPr>
              <a:t>Why it matters</a:t>
            </a:r>
            <a:endParaRPr lang="en-US" sz="2000" dirty="0"/>
          </a:p>
        </p:txBody>
      </p:sp>
      <p:sp>
        <p:nvSpPr>
          <p:cNvPr id="13" name="field body 2"/>
          <p:cNvSpPr txBox="1"/>
          <p:nvPr/>
        </p:nvSpPr>
        <p:spPr>
          <a:xfrm>
            <a:off x="4617720" y="3337560"/>
            <a:ext cx="2834640" cy="1371600"/>
          </a:xfrm>
          <a:prstGeom prst="rect">
            <a:avLst/>
          </a:prstGeom>
          <a:noFill/>
          <a:ln/>
        </p:spPr>
        <p:txBody>
          <a:bodyPr wrap="square" lIns="0" tIns="0" rIns="0" bIns="0" rtlCol="0" anchor="t"/>
          <a:lstStyle/>
          <a:p>
            <a:pPr indent="0" marL="0">
              <a:buNone/>
            </a:pPr>
            <a:r>
              <a:rPr lang="en-US" sz="1500" dirty="0">
                <a:solidFill>
                  <a:schemeClr val="tx1"/>
                </a:solidFill>
              </a:rPr>
              <a:t>The score drives loan approvals, credit limits and the interest rate a customer is offered.</a:t>
            </a:r>
            <a:endParaRPr lang="en-US" sz="1500" dirty="0"/>
          </a:p>
        </p:txBody>
      </p:sp>
      <p:sp>
        <p:nvSpPr>
          <p:cNvPr id="14" name="field card 3"/>
          <p:cNvSpPr/>
          <p:nvPr/>
        </p:nvSpPr>
        <p:spPr>
          <a:xfrm>
            <a:off x="8046720" y="1600200"/>
            <a:ext cx="3474720" cy="3291840"/>
          </a:xfrm>
          <a:prstGeom prst="roundRect">
            <a:avLst>
              <a:gd name="adj" fmla="val 3333"/>
            </a:avLst>
          </a:prstGeom>
          <a:solidFill>
            <a:srgbClr val="EEF6F8"/>
          </a:solidFill>
          <a:ln w="12700">
            <a:solidFill>
              <a:srgbClr val="EEF6F8"/>
            </a:solidFill>
            <a:prstDash val="solid"/>
          </a:ln>
        </p:spPr>
      </p:sp>
      <p:sp>
        <p:nvSpPr>
          <p:cNvPr id="15" name="field 3 circle"/>
          <p:cNvSpPr/>
          <p:nvPr/>
        </p:nvSpPr>
        <p:spPr>
          <a:xfrm>
            <a:off x="8366760" y="1874520"/>
            <a:ext cx="777240" cy="777240"/>
          </a:xfrm>
          <a:prstGeom prst="ellipse">
            <a:avLst/>
          </a:prstGeom>
          <a:solidFill>
            <a:srgbClr val="0E7490"/>
          </a:solidFill>
          <a:ln w="12700">
            <a:solidFill>
              <a:srgbClr val="0E7490"/>
            </a:solidFill>
            <a:prstDash val="solid"/>
          </a:ln>
        </p:spPr>
      </p:sp>
      <p:pic>
        <p:nvPicPr>
          <p:cNvPr id="16" name="field 3 icon" descr="preencoded.png">    </p:cNvPr>
          <p:cNvPicPr>
            <a:picLocks noChangeAspect="1"/>
          </p:cNvPicPr>
          <p:nvPr/>
        </p:nvPicPr>
        <p:blipFill>
          <a:blip r:embed="rId3"/>
          <a:stretch>
            <a:fillRect/>
          </a:stretch>
        </p:blipFill>
        <p:spPr>
          <a:xfrm>
            <a:off x="8576615" y="2084375"/>
            <a:ext cx="357530" cy="357530"/>
          </a:xfrm>
          <a:prstGeom prst="rect">
            <a:avLst/>
          </a:prstGeom>
        </p:spPr>
      </p:pic>
      <p:sp>
        <p:nvSpPr>
          <p:cNvPr id="17" name="field head 3"/>
          <p:cNvSpPr txBox="1"/>
          <p:nvPr/>
        </p:nvSpPr>
        <p:spPr>
          <a:xfrm>
            <a:off x="8366760" y="2834640"/>
            <a:ext cx="2834640" cy="457200"/>
          </a:xfrm>
          <a:prstGeom prst="rect">
            <a:avLst/>
          </a:prstGeom>
          <a:noFill/>
          <a:ln/>
        </p:spPr>
        <p:txBody>
          <a:bodyPr wrap="square" lIns="0" tIns="0" rIns="0" bIns="0" rtlCol="0" anchor="ctr"/>
          <a:lstStyle/>
          <a:p>
            <a:pPr indent="0" marL="0">
              <a:buNone/>
            </a:pPr>
            <a:r>
              <a:rPr lang="en-US" sz="2000" b="1" dirty="0">
                <a:solidFill>
                  <a:schemeClr val="tx2"/>
                </a:solidFill>
              </a:rPr>
              <a:t>Where data helps</a:t>
            </a:r>
            <a:endParaRPr lang="en-US" sz="2000" dirty="0"/>
          </a:p>
        </p:txBody>
      </p:sp>
      <p:sp>
        <p:nvSpPr>
          <p:cNvPr id="18" name="field body 3"/>
          <p:cNvSpPr txBox="1"/>
          <p:nvPr/>
        </p:nvSpPr>
        <p:spPr>
          <a:xfrm>
            <a:off x="8366760" y="3337560"/>
            <a:ext cx="2834640" cy="1371600"/>
          </a:xfrm>
          <a:prstGeom prst="rect">
            <a:avLst/>
          </a:prstGeom>
          <a:noFill/>
          <a:ln/>
        </p:spPr>
        <p:txBody>
          <a:bodyPr wrap="square" lIns="0" tIns="0" rIns="0" bIns="0" rtlCol="0" anchor="t"/>
          <a:lstStyle/>
          <a:p>
            <a:pPr indent="0" marL="0">
              <a:buNone/>
            </a:pPr>
            <a:r>
              <a:rPr lang="en-US" sz="1500" dirty="0">
                <a:solidFill>
                  <a:schemeClr val="tx1"/>
                </a:solidFill>
              </a:rPr>
              <a:t>Income, debt and payment history can explain — and later predict — a customer's score.</a:t>
            </a:r>
            <a:endParaRPr lang="en-US" sz="1500" dirty="0"/>
          </a:p>
        </p:txBody>
      </p:sp>
      <p:sp>
        <p:nvSpPr>
          <p:cNvPr id="19" name="score levels"/>
          <p:cNvSpPr txBox="1"/>
          <p:nvPr/>
        </p:nvSpPr>
        <p:spPr>
          <a:xfrm>
            <a:off x="548640" y="5303520"/>
            <a:ext cx="11064240" cy="457200"/>
          </a:xfrm>
          <a:prstGeom prst="rect">
            <a:avLst/>
          </a:prstGeom>
          <a:noFill/>
          <a:ln/>
        </p:spPr>
        <p:txBody>
          <a:bodyPr wrap="square" lIns="0" tIns="0" rIns="0" bIns="0" rtlCol="0" anchor="ctr"/>
          <a:lstStyle/>
          <a:p>
            <a:pPr indent="0" marL="0">
              <a:buNone/>
            </a:pPr>
            <a:r>
              <a:rPr lang="en-US" sz="1800" dirty="0">
                <a:solidFill>
                  <a:schemeClr val="tx1"/>
                </a:solidFill>
              </a:rPr>
              <a:t>Three score levels in this data:  </a:t>
            </a:r>
            <a:pPr indent="0" marL="0">
              <a:buNone/>
            </a:pPr>
            <a:r>
              <a:rPr lang="en-US" sz="1800" b="1" dirty="0">
                <a:solidFill>
                  <a:srgbClr val="DC2626"/>
                </a:solidFill>
              </a:rPr>
              <a:t>Poor</a:t>
            </a:r>
            <a:pPr indent="0" marL="0">
              <a:buNone/>
            </a:pPr>
            <a:r>
              <a:rPr lang="en-US" sz="1800" dirty="0">
                <a:solidFill>
                  <a:schemeClr val="tx1"/>
                </a:solidFill>
              </a:rPr>
              <a:t>   ·   </a:t>
            </a:r>
            <a:pPr indent="0" marL="0">
              <a:buNone/>
            </a:pPr>
            <a:r>
              <a:rPr lang="en-US" sz="1800" b="1" dirty="0">
                <a:solidFill>
                  <a:srgbClr val="B45309"/>
                </a:solidFill>
              </a:rPr>
              <a:t>Standard</a:t>
            </a:r>
            <a:pPr indent="0" marL="0">
              <a:buNone/>
            </a:pPr>
            <a:r>
              <a:rPr lang="en-US" sz="1800" dirty="0">
                <a:solidFill>
                  <a:schemeClr val="tx1"/>
                </a:solidFill>
              </a:rPr>
              <a:t>   ·   </a:t>
            </a:r>
            <a:pPr indent="0" marL="0">
              <a:buNone/>
            </a:pPr>
            <a:r>
              <a:rPr lang="en-US" sz="1800" b="1" dirty="0">
                <a:solidFill>
                  <a:srgbClr val="16A34A"/>
                </a:solidFill>
              </a:rPr>
              <a:t>Good</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THE DATA</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 year of banking data for 12,500 customers</a:t>
            </a:r>
            <a:endParaRPr lang="en-US" sz="3200" dirty="0"/>
          </a:p>
        </p:txBody>
      </p:sp>
      <p:sp>
        <p:nvSpPr>
          <p:cNvPr id="4" name="rows value"/>
          <p:cNvSpPr txBox="1"/>
          <p:nvPr/>
        </p:nvSpPr>
        <p:spPr>
          <a:xfrm>
            <a:off x="548640" y="1645920"/>
            <a:ext cx="32918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100,000</a:t>
            </a:r>
            <a:endParaRPr lang="en-US" sz="4000" dirty="0"/>
          </a:p>
        </p:txBody>
      </p:sp>
      <p:sp>
        <p:nvSpPr>
          <p:cNvPr id="5" name="rows label"/>
          <p:cNvSpPr txBox="1"/>
          <p:nvPr/>
        </p:nvSpPr>
        <p:spPr>
          <a:xfrm>
            <a:off x="548640" y="2331720"/>
            <a:ext cx="3291840" cy="457200"/>
          </a:xfrm>
          <a:prstGeom prst="rect">
            <a:avLst/>
          </a:prstGeom>
          <a:noFill/>
          <a:ln/>
        </p:spPr>
        <p:txBody>
          <a:bodyPr wrap="square" lIns="0" tIns="0" rIns="0" bIns="0" rtlCol="0" anchor="t"/>
          <a:lstStyle/>
          <a:p>
            <a:pPr indent="0" marL="0">
              <a:buNone/>
            </a:pPr>
            <a:r>
              <a:rPr lang="en-US" sz="1300" dirty="0">
                <a:solidFill>
                  <a:srgbClr val="64748B"/>
                </a:solidFill>
              </a:rPr>
              <a:t>rows in train.csv (one per customer per month)</a:t>
            </a:r>
            <a:endParaRPr lang="en-US" sz="1300" dirty="0"/>
          </a:p>
        </p:txBody>
      </p:sp>
      <p:sp>
        <p:nvSpPr>
          <p:cNvPr id="6" name="columns value"/>
          <p:cNvSpPr txBox="1"/>
          <p:nvPr/>
        </p:nvSpPr>
        <p:spPr>
          <a:xfrm>
            <a:off x="548640" y="2971800"/>
            <a:ext cx="32918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28</a:t>
            </a:r>
            <a:endParaRPr lang="en-US" sz="4000" dirty="0"/>
          </a:p>
        </p:txBody>
      </p:sp>
      <p:sp>
        <p:nvSpPr>
          <p:cNvPr id="7" name="columns label"/>
          <p:cNvSpPr txBox="1"/>
          <p:nvPr/>
        </p:nvSpPr>
        <p:spPr>
          <a:xfrm>
            <a:off x="548640" y="3657600"/>
            <a:ext cx="3291840" cy="457200"/>
          </a:xfrm>
          <a:prstGeom prst="rect">
            <a:avLst/>
          </a:prstGeom>
          <a:noFill/>
          <a:ln/>
        </p:spPr>
        <p:txBody>
          <a:bodyPr wrap="square" lIns="0" tIns="0" rIns="0" bIns="0" rtlCol="0" anchor="t"/>
          <a:lstStyle/>
          <a:p>
            <a:pPr indent="0" marL="0">
              <a:buNone/>
            </a:pPr>
            <a:r>
              <a:rPr lang="en-US" sz="1300" dirty="0">
                <a:solidFill>
                  <a:srgbClr val="64748B"/>
                </a:solidFill>
              </a:rPr>
              <a:t>columns: personal, financial, credit behaviour, target</a:t>
            </a:r>
            <a:endParaRPr lang="en-US" sz="1300" dirty="0"/>
          </a:p>
        </p:txBody>
      </p:sp>
      <p:sp>
        <p:nvSpPr>
          <p:cNvPr id="8" name="months value"/>
          <p:cNvSpPr txBox="1"/>
          <p:nvPr/>
        </p:nvSpPr>
        <p:spPr>
          <a:xfrm>
            <a:off x="548640" y="4297680"/>
            <a:ext cx="32918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9" name="months label"/>
          <p:cNvSpPr txBox="1"/>
          <p:nvPr/>
        </p:nvSpPr>
        <p:spPr>
          <a:xfrm>
            <a:off x="548640" y="4983480"/>
            <a:ext cx="3291840" cy="457200"/>
          </a:xfrm>
          <a:prstGeom prst="rect">
            <a:avLst/>
          </a:prstGeom>
          <a:noFill/>
          <a:ln/>
        </p:spPr>
        <p:txBody>
          <a:bodyPr wrap="square" lIns="0" tIns="0" rIns="0" bIns="0" rtlCol="0" anchor="t"/>
          <a:lstStyle/>
          <a:p>
            <a:pPr indent="0" marL="0">
              <a:buNone/>
            </a:pPr>
            <a:r>
              <a:rPr lang="en-US" sz="1300" dirty="0">
                <a:solidFill>
                  <a:srgbClr val="64748B"/>
                </a:solidFill>
              </a:rPr>
              <a:t>months tracked per customer (January – August)</a:t>
            </a:r>
            <a:endParaRPr lang="en-US" sz="1300" dirty="0"/>
          </a:p>
        </p:txBody>
      </p:sp>
      <p:sp>
        <p:nvSpPr>
          <p:cNvPr id="10" name="column groups card"/>
          <p:cNvSpPr/>
          <p:nvPr/>
        </p:nvSpPr>
        <p:spPr>
          <a:xfrm>
            <a:off x="4389120" y="1600200"/>
            <a:ext cx="7223760" cy="4343400"/>
          </a:xfrm>
          <a:prstGeom prst="roundRect">
            <a:avLst>
              <a:gd name="adj" fmla="val 2526"/>
            </a:avLst>
          </a:prstGeom>
          <a:solidFill>
            <a:srgbClr val="EEF6F8"/>
          </a:solidFill>
          <a:ln w="12700">
            <a:solidFill>
              <a:srgbClr val="EEF6F8"/>
            </a:solidFill>
            <a:prstDash val="solid"/>
          </a:ln>
        </p:spPr>
      </p:sp>
      <p:sp>
        <p:nvSpPr>
          <p:cNvPr id="11" name="group 1"/>
          <p:cNvSpPr txBox="1"/>
          <p:nvPr/>
        </p:nvSpPr>
        <p:spPr>
          <a:xfrm>
            <a:off x="4663440" y="1828800"/>
            <a:ext cx="6675120" cy="566928"/>
          </a:xfrm>
          <a:prstGeom prst="rect">
            <a:avLst/>
          </a:prstGeom>
          <a:noFill/>
          <a:ln/>
        </p:spPr>
        <p:txBody>
          <a:bodyPr wrap="square" lIns="0" tIns="0" rIns="0" bIns="0" rtlCol="0" anchor="ctr"/>
          <a:lstStyle/>
          <a:p>
            <a:pPr indent="0" marL="0">
              <a:buNone/>
            </a:pPr>
            <a:r>
              <a:rPr lang="en-US" sz="1500" b="1" dirty="0">
                <a:solidFill>
                  <a:srgbClr val="0B3B4A"/>
                </a:solidFill>
              </a:rPr>
              <a:t>Customer:  </a:t>
            </a:r>
            <a:pPr indent="0" marL="0">
              <a:buNone/>
            </a:pPr>
            <a:r>
              <a:rPr lang="en-US" sz="1500" dirty="0">
                <a:solidFill>
                  <a:schemeClr val="tx1"/>
                </a:solidFill>
              </a:rPr>
              <a:t>Age, Occupation, Annual Income, Monthly In-hand Salary</a:t>
            </a:r>
            <a:endParaRPr lang="en-US" sz="1500" dirty="0"/>
          </a:p>
        </p:txBody>
      </p:sp>
      <p:sp>
        <p:nvSpPr>
          <p:cNvPr id="12" name="group 2"/>
          <p:cNvSpPr txBox="1"/>
          <p:nvPr/>
        </p:nvSpPr>
        <p:spPr>
          <a:xfrm>
            <a:off x="4663440" y="2487168"/>
            <a:ext cx="6675120" cy="566928"/>
          </a:xfrm>
          <a:prstGeom prst="rect">
            <a:avLst/>
          </a:prstGeom>
          <a:noFill/>
          <a:ln/>
        </p:spPr>
        <p:txBody>
          <a:bodyPr wrap="square" lIns="0" tIns="0" rIns="0" bIns="0" rtlCol="0" anchor="ctr"/>
          <a:lstStyle/>
          <a:p>
            <a:pPr indent="0" marL="0">
              <a:buNone/>
            </a:pPr>
            <a:r>
              <a:rPr lang="en-US" sz="1500" b="1" dirty="0">
                <a:solidFill>
                  <a:srgbClr val="0B3B4A"/>
                </a:solidFill>
              </a:rPr>
              <a:t>Accounts &amp; loans:  </a:t>
            </a:r>
            <a:pPr indent="0" marL="0">
              <a:buNone/>
            </a:pPr>
            <a:r>
              <a:rPr lang="en-US" sz="1500" dirty="0">
                <a:solidFill>
                  <a:schemeClr val="tx1"/>
                </a:solidFill>
              </a:rPr>
              <a:t>Bank Accounts, Credit Cards, Number &amp; Type of Loans, Interest Rate</a:t>
            </a:r>
            <a:endParaRPr lang="en-US" sz="1500" dirty="0"/>
          </a:p>
        </p:txBody>
      </p:sp>
      <p:sp>
        <p:nvSpPr>
          <p:cNvPr id="13" name="group 3"/>
          <p:cNvSpPr txBox="1"/>
          <p:nvPr/>
        </p:nvSpPr>
        <p:spPr>
          <a:xfrm>
            <a:off x="4663440" y="3145536"/>
            <a:ext cx="6675120" cy="566928"/>
          </a:xfrm>
          <a:prstGeom prst="rect">
            <a:avLst/>
          </a:prstGeom>
          <a:noFill/>
          <a:ln/>
        </p:spPr>
        <p:txBody>
          <a:bodyPr wrap="square" lIns="0" tIns="0" rIns="0" bIns="0" rtlCol="0" anchor="ctr"/>
          <a:lstStyle/>
          <a:p>
            <a:pPr indent="0" marL="0">
              <a:buNone/>
            </a:pPr>
            <a:r>
              <a:rPr lang="en-US" sz="1500" b="1" dirty="0">
                <a:solidFill>
                  <a:srgbClr val="0B3B4A"/>
                </a:solidFill>
              </a:rPr>
              <a:t>Payment behaviour:  </a:t>
            </a:r>
            <a:pPr indent="0" marL="0">
              <a:buNone/>
            </a:pPr>
            <a:r>
              <a:rPr lang="en-US" sz="1500" dirty="0">
                <a:solidFill>
                  <a:schemeClr val="tx1"/>
                </a:solidFill>
              </a:rPr>
              <a:t>Delay from Due Date, Delayed Payments, Paid Only Minimum, Payment Behaviour</a:t>
            </a:r>
            <a:endParaRPr lang="en-US" sz="1500" dirty="0"/>
          </a:p>
        </p:txBody>
      </p:sp>
      <p:sp>
        <p:nvSpPr>
          <p:cNvPr id="14" name="group 4"/>
          <p:cNvSpPr txBox="1"/>
          <p:nvPr/>
        </p:nvSpPr>
        <p:spPr>
          <a:xfrm>
            <a:off x="4663440" y="3803904"/>
            <a:ext cx="6675120" cy="566928"/>
          </a:xfrm>
          <a:prstGeom prst="rect">
            <a:avLst/>
          </a:prstGeom>
          <a:noFill/>
          <a:ln/>
        </p:spPr>
        <p:txBody>
          <a:bodyPr wrap="square" lIns="0" tIns="0" rIns="0" bIns="0" rtlCol="0" anchor="ctr"/>
          <a:lstStyle/>
          <a:p>
            <a:pPr indent="0" marL="0">
              <a:buNone/>
            </a:pPr>
            <a:r>
              <a:rPr lang="en-US" sz="1500" b="1" dirty="0">
                <a:solidFill>
                  <a:srgbClr val="0B3B4A"/>
                </a:solidFill>
              </a:rPr>
              <a:t>Debt &amp; balance:  </a:t>
            </a:r>
            <a:pPr indent="0" marL="0">
              <a:buNone/>
            </a:pPr>
            <a:r>
              <a:rPr lang="en-US" sz="1500" dirty="0">
                <a:solidFill>
                  <a:schemeClr val="tx1"/>
                </a:solidFill>
              </a:rPr>
              <a:t>Outstanding Debt, Credit Utilization, Monthly EMI, Investments, Balance</a:t>
            </a:r>
            <a:endParaRPr lang="en-US" sz="1500" dirty="0"/>
          </a:p>
        </p:txBody>
      </p:sp>
      <p:sp>
        <p:nvSpPr>
          <p:cNvPr id="15" name="group 5"/>
          <p:cNvSpPr txBox="1"/>
          <p:nvPr/>
        </p:nvSpPr>
        <p:spPr>
          <a:xfrm>
            <a:off x="4663440" y="4462272"/>
            <a:ext cx="6675120" cy="566928"/>
          </a:xfrm>
          <a:prstGeom prst="rect">
            <a:avLst/>
          </a:prstGeom>
          <a:noFill/>
          <a:ln/>
        </p:spPr>
        <p:txBody>
          <a:bodyPr wrap="square" lIns="0" tIns="0" rIns="0" bIns="0" rtlCol="0" anchor="ctr"/>
          <a:lstStyle/>
          <a:p>
            <a:pPr indent="0" marL="0">
              <a:buNone/>
            </a:pPr>
            <a:r>
              <a:rPr lang="en-US" sz="1500" b="1" dirty="0">
                <a:solidFill>
                  <a:srgbClr val="0B3B4A"/>
                </a:solidFill>
              </a:rPr>
              <a:t>Credit profile:  </a:t>
            </a:r>
            <a:pPr indent="0" marL="0">
              <a:buNone/>
            </a:pPr>
            <a:r>
              <a:rPr lang="en-US" sz="1500" dirty="0">
                <a:solidFill>
                  <a:schemeClr val="tx1"/>
                </a:solidFill>
              </a:rPr>
              <a:t>Credit Mix, Credit History Age, Credit Inquiries, Credit Limit Change</a:t>
            </a:r>
            <a:endParaRPr lang="en-US" sz="1500" dirty="0"/>
          </a:p>
        </p:txBody>
      </p:sp>
      <p:sp>
        <p:nvSpPr>
          <p:cNvPr id="16" name="group 6"/>
          <p:cNvSpPr txBox="1"/>
          <p:nvPr/>
        </p:nvSpPr>
        <p:spPr>
          <a:xfrm>
            <a:off x="4663440" y="5120640"/>
            <a:ext cx="6675120" cy="566928"/>
          </a:xfrm>
          <a:prstGeom prst="rect">
            <a:avLst/>
          </a:prstGeom>
          <a:noFill/>
          <a:ln/>
        </p:spPr>
        <p:txBody>
          <a:bodyPr wrap="square" lIns="0" tIns="0" rIns="0" bIns="0" rtlCol="0" anchor="ctr"/>
          <a:lstStyle/>
          <a:p>
            <a:pPr indent="0" marL="0">
              <a:buNone/>
            </a:pPr>
            <a:r>
              <a:rPr lang="en-US" sz="1500" b="1" dirty="0">
                <a:solidFill>
                  <a:srgbClr val="DC2626"/>
                </a:solidFill>
              </a:rPr>
              <a:t>Target:  </a:t>
            </a:r>
            <a:pPr indent="0" marL="0">
              <a:buNone/>
            </a:pPr>
            <a:r>
              <a:rPr lang="en-US" sz="1500" dirty="0">
                <a:solidFill>
                  <a:schemeClr val="tx1"/>
                </a:solidFill>
              </a:rPr>
              <a:t>Credit_Score — Poor / Standard / Good</a:t>
            </a:r>
            <a:endParaRPr lang="en-US" sz="1500" dirty="0"/>
          </a:p>
        </p:txBody>
      </p:sp>
      <p:sp>
        <p:nvSpPr>
          <p:cNvPr id="17" name="caption"/>
          <p:cNvSpPr txBox="1"/>
          <p:nvPr/>
        </p:nvSpPr>
        <p:spPr>
          <a:xfrm>
            <a:off x="4389120" y="5989320"/>
            <a:ext cx="7223760" cy="292608"/>
          </a:xfrm>
          <a:prstGeom prst="rect">
            <a:avLst/>
          </a:prstGeom>
          <a:noFill/>
          <a:ln/>
        </p:spPr>
        <p:txBody>
          <a:bodyPr wrap="square" lIns="0" tIns="0" rIns="0" bIns="0" rtlCol="0" anchor="ctr"/>
          <a:lstStyle/>
          <a:p>
            <a:pPr indent="0" marL="0">
              <a:buNone/>
            </a:pPr>
            <a:r>
              <a:rPr lang="en-US" sz="1100" i="1" dirty="0">
                <a:solidFill>
                  <a:srgbClr val="64748B"/>
                </a:solidFill>
              </a:rPr>
              <a:t>Source: Kaggle — “Credit Score Classification” (parisrohan)</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COLUMN DICTIONARY  ·  1 OF 2</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each column represents</a:t>
            </a:r>
            <a:endParaRPr lang="en-US" sz="3200" dirty="0"/>
          </a:p>
        </p:txBody>
      </p:sp>
      <p:graphicFrame>
        <p:nvGraphicFramePr>
          <p:cNvPr id="5" name="column dictionary 1"/>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937760"/>
                <a:gridCol w="3383280"/>
              </a:tblGrid>
              <a:tr h="3200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B3B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represents</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B3B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 value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B3B4A"/>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Unique identifier of each record (row)</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0x1602</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Customer_ID</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Unique identifier of the customer</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CUS_0xd40</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Month</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Month of the record (January to August)</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January</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Name of the customer</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Aaron Maashoh</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Age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Age of the customer</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23</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SSN</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Social Security Number of the customer</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821-00-0265</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Occupation</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Occupation of the customer</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Scientist</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Annual_Income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Annual income of the customer</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19114.12</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Monthly_Inhand_Salary</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Monthly take-home salary of the customer</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1824.84</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Num_Bank_Accounts</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Number of bank accounts the customer holds</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3</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Num_Credit_Card</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Number of credit cards the customer holds</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4</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Interest_Rate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Interest rate on the customer's credit card (%)</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3</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Num_of_Loan</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Number of loans taken from the bank</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4</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Type_of_Loan</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Types of loans the customer has taken</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Auto Loan, Credit-Builder Loan, and Personal Loan</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COLUMN DICTIONARY  ·  2 OF 2</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each column represents (continued)</a:t>
            </a:r>
            <a:endParaRPr lang="en-US" sz="3200" dirty="0"/>
          </a:p>
        </p:txBody>
      </p:sp>
      <p:graphicFrame>
        <p:nvGraphicFramePr>
          <p:cNvPr id="6" name="column dictionary 2"/>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937760"/>
                <a:gridCol w="3383280"/>
              </a:tblGrid>
              <a:tr h="3200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B3B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represents</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B3B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 value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B3B4A"/>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Delay_from_due_date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Average number of days a payment is late after the due date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3</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Num_of_Delayed_Payment</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Number of payments the customer delayed</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7</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Changed_Credit_Limit</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Percentage change in the credit card limit</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11.27</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Num_Credit_Inquiries</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Number of credit card inquiries</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4</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Credit_Mix</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Classification of the customer's mix of credits (Good, Standard, Bad)</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Good</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Outstanding_Debt</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Remaining debt still to be paid</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809.98</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Credit_Utilization_Ratio</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Ratio of credit used to total available credit (%)</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26.82</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Credit_History_Age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Age of the customer's credit history</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22 Years and 1 Months</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Payment_of_Min_Amount</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Whether the customer paid only the minimum amount due (Yes, No, NM = Not Mentioned)</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No</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Total_EMI_per_month</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Total monthly EMI (Equated Monthly Instalment) payments</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49.57</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Amount_invested_monthly</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Amount the customer invests each month</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80.42</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Payment_Behaviour</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The customer's spending level combined with their payment size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High_spent_Small_value_payments</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320040">
                <a:tc>
                  <a:txBody>
                    <a:bodyPr/>
                    <a:lstStyle/>
                    <a:p>
                      <a:pPr indent="0" marL="0">
                        <a:buNone/>
                      </a:pPr>
                      <a:r>
                        <a:rPr lang="en-US" sz="1300" b="1" dirty="0">
                          <a:solidFill>
                            <a:srgbClr val="0B3B4A"/>
                          </a:solidFill>
                          <a:latin typeface="Calibri" pitchFamily="34" charset="0"/>
                          <a:ea typeface="Calibri" pitchFamily="34" charset="-122"/>
                          <a:cs typeface="Calibri" pitchFamily="34" charset="-120"/>
                        </a:rPr>
                        <a:t>Monthly_Balance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The customer's monthly balance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312.49</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320040">
                <a:tc>
                  <a:txBody>
                    <a:bodyPr/>
                    <a:lstStyle/>
                    <a:p>
                      <a:pPr indent="0" marL="0">
                        <a:buNone/>
                      </a:pPr>
                      <a:r>
                        <a:rPr lang="en-US" sz="1300" b="1" dirty="0">
                          <a:solidFill>
                            <a:srgbClr val="DC2626"/>
                          </a:solidFill>
                          <a:latin typeface="Calibri" pitchFamily="34" charset="0"/>
                          <a:ea typeface="Calibri" pitchFamily="34" charset="-122"/>
                          <a:cs typeface="Calibri" pitchFamily="34" charset="-120"/>
                        </a:rPr>
                        <a:t>Credit_Score</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Target: the credit score bracket (Poor, Standard, Good)</a:t>
                      </a:r>
                      <a:endParaRPr lang="en-US" sz="1300" dirty="0">
                        <a:latin typeface="Calibri" charset="0"/>
                        <a:ea typeface="Calibri" charset="0"/>
                        <a:cs typeface="Calibri"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ourier New" pitchFamily="34" charset="0"/>
                          <a:ea typeface="Courier New" pitchFamily="34" charset="-122"/>
                          <a:cs typeface="Courier New" pitchFamily="34" charset="-120"/>
                        </a:rPr>
                        <a:t>Good</a:t>
                      </a:r>
                      <a:endParaRPr lang="en-US" sz="1200" dirty="0">
                        <a:latin typeface="Courier New" charset="0"/>
                        <a:ea typeface="Courier New" charset="0"/>
                        <a:cs typeface="Courier New" charset="0"/>
                      </a:endParaRPr>
                    </a:p>
                  </a:txBody>
                  <a:tcPr marL="101600" marR="101600" marT="25400" marB="254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TWO FILES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Built for machine learning, so it comes in two files</a:t>
            </a:r>
            <a:endParaRPr lang="en-US" sz="3200" dirty="0"/>
          </a:p>
        </p:txBody>
      </p:sp>
      <p:sp>
        <p:nvSpPr>
          <p:cNvPr id="4" name="train.csv card"/>
          <p:cNvSpPr/>
          <p:nvPr/>
        </p:nvSpPr>
        <p:spPr>
          <a:xfrm>
            <a:off x="548640" y="1600200"/>
            <a:ext cx="5349240" cy="3200400"/>
          </a:xfrm>
          <a:prstGeom prst="roundRect">
            <a:avLst>
              <a:gd name="adj" fmla="val 3429"/>
            </a:avLst>
          </a:prstGeom>
          <a:solidFill>
            <a:srgbClr val="EEF6F8"/>
          </a:solidFill>
          <a:ln w="12700">
            <a:solidFill>
              <a:srgbClr val="EEF6F8"/>
            </a:solidFill>
            <a:prstDash val="solid"/>
          </a:ln>
        </p:spPr>
      </p:sp>
      <p:sp>
        <p:nvSpPr>
          <p:cNvPr id="5" name="train.csv circle"/>
          <p:cNvSpPr/>
          <p:nvPr/>
        </p:nvSpPr>
        <p:spPr>
          <a:xfrm>
            <a:off x="868680" y="1874520"/>
            <a:ext cx="731520" cy="731520"/>
          </a:xfrm>
          <a:prstGeom prst="ellipse">
            <a:avLst/>
          </a:prstGeom>
          <a:solidFill>
            <a:srgbClr val="16A34A"/>
          </a:solidFill>
          <a:ln w="12700">
            <a:solidFill>
              <a:srgbClr val="16A34A"/>
            </a:solidFill>
            <a:prstDash val="solid"/>
          </a:ln>
        </p:spPr>
      </p:sp>
      <p:pic>
        <p:nvPicPr>
          <p:cNvPr id="6" name="train.csv icon" descr="preencoded.png">    </p:cNvPr>
          <p:cNvPicPr>
            <a:picLocks noChangeAspect="1"/>
          </p:cNvPicPr>
          <p:nvPr/>
        </p:nvPicPr>
        <p:blipFill>
          <a:blip r:embed="rId1"/>
          <a:stretch>
            <a:fillRect/>
          </a:stretch>
        </p:blipFill>
        <p:spPr>
          <a:xfrm>
            <a:off x="1066190" y="2072030"/>
            <a:ext cx="336499" cy="336499"/>
          </a:xfrm>
          <a:prstGeom prst="rect">
            <a:avLst/>
          </a:prstGeom>
        </p:spPr>
      </p:pic>
      <p:sp>
        <p:nvSpPr>
          <p:cNvPr id="7" name="train.csv name"/>
          <p:cNvSpPr txBox="1"/>
          <p:nvPr/>
        </p:nvSpPr>
        <p:spPr>
          <a:xfrm>
            <a:off x="1783080" y="1920240"/>
            <a:ext cx="3840480" cy="64008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train.csv</a:t>
            </a:r>
            <a:endParaRPr lang="en-US" sz="2600" dirty="0"/>
          </a:p>
        </p:txBody>
      </p:sp>
      <p:sp>
        <p:nvSpPr>
          <p:cNvPr id="8" name="train.csv facts"/>
          <p:cNvSpPr txBox="1"/>
          <p:nvPr/>
        </p:nvSpPr>
        <p:spPr>
          <a:xfrm>
            <a:off x="914400" y="2834640"/>
            <a:ext cx="4663440" cy="1371600"/>
          </a:xfrm>
          <a:prstGeom prst="rect">
            <a:avLst/>
          </a:prstGeom>
          <a:noFill/>
          <a:ln/>
        </p:spPr>
        <p:txBody>
          <a:bodyPr wrap="square" lIns="0" tIns="0" rIns="0" bIns="0" rtlCol="0" anchor="t"/>
          <a:lstStyle/>
          <a:p>
            <a:pPr marL="190500" indent="-190500">
              <a:spcAft>
                <a:spcPts val="600"/>
              </a:spcAft>
              <a:buSzPct val="100000"/>
              <a:buChar char="•"/>
            </a:pPr>
            <a:r>
              <a:rPr lang="en-US" sz="1600" b="1" dirty="0">
                <a:solidFill>
                  <a:schemeClr val="tx1"/>
                </a:solidFill>
              </a:rPr>
              <a:t>Rows: </a:t>
            </a:r>
            <a:pPr indent="0" marL="0">
              <a:spcAft>
                <a:spcPts val="600"/>
              </a:spcAft>
              <a:buNone/>
            </a:pPr>
            <a:r>
              <a:rPr lang="en-US" sz="1600" dirty="0">
                <a:solidFill>
                  <a:schemeClr val="tx1"/>
                </a:solidFill>
              </a:rPr>
              <a:t>100,000</a:t>
            </a:r>
            <a:endParaRPr lang="en-US" sz="1600" dirty="0"/>
          </a:p>
          <a:p>
            <a:pPr marL="190500" indent="-190500">
              <a:spcAft>
                <a:spcPts val="600"/>
              </a:spcAft>
              <a:buSzPct val="100000"/>
              <a:buChar char="•"/>
            </a:pPr>
            <a:r>
              <a:rPr lang="en-US" sz="1600" b="1" dirty="0">
                <a:solidFill>
                  <a:schemeClr val="tx1"/>
                </a:solidFill>
              </a:rPr>
              <a:t>Months: </a:t>
            </a:r>
            <a:pPr indent="0" marL="0">
              <a:spcAft>
                <a:spcPts val="600"/>
              </a:spcAft>
              <a:buNone/>
            </a:pPr>
            <a:r>
              <a:rPr lang="en-US" sz="1600" dirty="0">
                <a:solidFill>
                  <a:schemeClr val="tx1"/>
                </a:solidFill>
              </a:rPr>
              <a:t>January – August</a:t>
            </a:r>
            <a:endParaRPr lang="en-US" sz="1600" dirty="0"/>
          </a:p>
          <a:p>
            <a:pPr marL="190500" indent="-190500">
              <a:spcAft>
                <a:spcPts val="600"/>
              </a:spcAft>
              <a:buSzPct val="100000"/>
              <a:buChar char="•"/>
            </a:pPr>
            <a:r>
              <a:rPr lang="en-US" sz="1600" b="1" dirty="0">
                <a:solidFill>
                  <a:schemeClr val="tx1"/>
                </a:solidFill>
              </a:rPr>
              <a:t>Credit_Score: </a:t>
            </a:r>
            <a:pPr indent="0" marL="0">
              <a:spcAft>
                <a:spcPts val="600"/>
              </a:spcAft>
              <a:buNone/>
            </a:pPr>
            <a:r>
              <a:rPr lang="en-US" sz="1600" dirty="0">
                <a:solidFill>
                  <a:schemeClr val="tx1"/>
                </a:solidFill>
              </a:rPr>
              <a:t>included (the answer)</a:t>
            </a:r>
            <a:endParaRPr lang="en-US" sz="1600" dirty="0"/>
          </a:p>
        </p:txBody>
      </p:sp>
      <p:sp>
        <p:nvSpPr>
          <p:cNvPr id="9" name="train.csv note"/>
          <p:cNvSpPr txBox="1"/>
          <p:nvPr/>
        </p:nvSpPr>
        <p:spPr>
          <a:xfrm>
            <a:off x="914400" y="4160520"/>
            <a:ext cx="4663440" cy="502920"/>
          </a:xfrm>
          <a:prstGeom prst="rect">
            <a:avLst/>
          </a:prstGeom>
          <a:noFill/>
          <a:ln/>
        </p:spPr>
        <p:txBody>
          <a:bodyPr wrap="square" lIns="0" tIns="0" rIns="0" bIns="0" rtlCol="0" anchor="ctr"/>
          <a:lstStyle/>
          <a:p>
            <a:pPr indent="0" marL="0">
              <a:buNone/>
            </a:pPr>
            <a:r>
              <a:rPr lang="en-US" sz="1400" i="1" dirty="0">
                <a:solidFill>
                  <a:srgbClr val="64748B"/>
                </a:solidFill>
              </a:rPr>
              <a:t>Used for this analysis</a:t>
            </a:r>
            <a:endParaRPr lang="en-US" sz="1400" dirty="0"/>
          </a:p>
        </p:txBody>
      </p:sp>
      <p:sp>
        <p:nvSpPr>
          <p:cNvPr id="10" name="test.csv card"/>
          <p:cNvSpPr/>
          <p:nvPr/>
        </p:nvSpPr>
        <p:spPr>
          <a:xfrm>
            <a:off x="6263640" y="1600200"/>
            <a:ext cx="5349240" cy="3200400"/>
          </a:xfrm>
          <a:prstGeom prst="roundRect">
            <a:avLst>
              <a:gd name="adj" fmla="val 3429"/>
            </a:avLst>
          </a:prstGeom>
          <a:solidFill>
            <a:srgbClr val="EEF6F8"/>
          </a:solidFill>
          <a:ln w="12700">
            <a:solidFill>
              <a:srgbClr val="EEF6F8"/>
            </a:solidFill>
            <a:prstDash val="solid"/>
          </a:ln>
        </p:spPr>
      </p:sp>
      <p:sp>
        <p:nvSpPr>
          <p:cNvPr id="11" name="test.csv circle"/>
          <p:cNvSpPr/>
          <p:nvPr/>
        </p:nvSpPr>
        <p:spPr>
          <a:xfrm>
            <a:off x="6583680" y="1874520"/>
            <a:ext cx="731520" cy="731520"/>
          </a:xfrm>
          <a:prstGeom prst="ellipse">
            <a:avLst/>
          </a:prstGeom>
          <a:solidFill>
            <a:srgbClr val="64748B"/>
          </a:solidFill>
          <a:ln w="12700">
            <a:solidFill>
              <a:srgbClr val="64748B"/>
            </a:solidFill>
            <a:prstDash val="solid"/>
          </a:ln>
        </p:spPr>
      </p:sp>
      <p:pic>
        <p:nvPicPr>
          <p:cNvPr id="12" name="test.csv icon" descr="preencoded.png">    </p:cNvPr>
          <p:cNvPicPr>
            <a:picLocks noChangeAspect="1"/>
          </p:cNvPicPr>
          <p:nvPr/>
        </p:nvPicPr>
        <p:blipFill>
          <a:blip r:embed="rId2"/>
          <a:stretch>
            <a:fillRect/>
          </a:stretch>
        </p:blipFill>
        <p:spPr>
          <a:xfrm>
            <a:off x="6781190" y="2072030"/>
            <a:ext cx="336499" cy="336499"/>
          </a:xfrm>
          <a:prstGeom prst="rect">
            <a:avLst/>
          </a:prstGeom>
        </p:spPr>
      </p:pic>
      <p:sp>
        <p:nvSpPr>
          <p:cNvPr id="13" name="test.csv name"/>
          <p:cNvSpPr txBox="1"/>
          <p:nvPr/>
        </p:nvSpPr>
        <p:spPr>
          <a:xfrm>
            <a:off x="7498080" y="1920240"/>
            <a:ext cx="3840480" cy="64008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test.csv</a:t>
            </a:r>
            <a:endParaRPr lang="en-US" sz="2600" dirty="0"/>
          </a:p>
        </p:txBody>
      </p:sp>
      <p:sp>
        <p:nvSpPr>
          <p:cNvPr id="14" name="test.csv facts"/>
          <p:cNvSpPr txBox="1"/>
          <p:nvPr/>
        </p:nvSpPr>
        <p:spPr>
          <a:xfrm>
            <a:off x="6629400" y="2834640"/>
            <a:ext cx="4663440" cy="1371600"/>
          </a:xfrm>
          <a:prstGeom prst="rect">
            <a:avLst/>
          </a:prstGeom>
          <a:noFill/>
          <a:ln/>
        </p:spPr>
        <p:txBody>
          <a:bodyPr wrap="square" lIns="0" tIns="0" rIns="0" bIns="0" rtlCol="0" anchor="t"/>
          <a:lstStyle/>
          <a:p>
            <a:pPr marL="190500" indent="-190500">
              <a:spcAft>
                <a:spcPts val="600"/>
              </a:spcAft>
              <a:buSzPct val="100000"/>
              <a:buChar char="•"/>
            </a:pPr>
            <a:r>
              <a:rPr lang="en-US" sz="1600" b="1" dirty="0">
                <a:solidFill>
                  <a:schemeClr val="tx1"/>
                </a:solidFill>
              </a:rPr>
              <a:t>Rows: </a:t>
            </a:r>
            <a:pPr indent="0" marL="0">
              <a:spcAft>
                <a:spcPts val="600"/>
              </a:spcAft>
              <a:buNone/>
            </a:pPr>
            <a:r>
              <a:rPr lang="en-US" sz="1600" dirty="0">
                <a:solidFill>
                  <a:schemeClr val="tx1"/>
                </a:solidFill>
              </a:rPr>
              <a:t>50,000</a:t>
            </a:r>
            <a:endParaRPr lang="en-US" sz="1600" dirty="0"/>
          </a:p>
          <a:p>
            <a:pPr marL="190500" indent="-190500">
              <a:spcAft>
                <a:spcPts val="600"/>
              </a:spcAft>
              <a:buSzPct val="100000"/>
              <a:buChar char="•"/>
            </a:pPr>
            <a:r>
              <a:rPr lang="en-US" sz="1600" b="1" dirty="0">
                <a:solidFill>
                  <a:schemeClr val="tx1"/>
                </a:solidFill>
              </a:rPr>
              <a:t>Months: </a:t>
            </a:r>
            <a:pPr indent="0" marL="0">
              <a:spcAft>
                <a:spcPts val="600"/>
              </a:spcAft>
              <a:buNone/>
            </a:pPr>
            <a:r>
              <a:rPr lang="en-US" sz="1600" dirty="0">
                <a:solidFill>
                  <a:schemeClr val="tx1"/>
                </a:solidFill>
              </a:rPr>
              <a:t>September – December</a:t>
            </a:r>
            <a:endParaRPr lang="en-US" sz="1600" dirty="0"/>
          </a:p>
          <a:p>
            <a:pPr marL="190500" indent="-190500">
              <a:spcAft>
                <a:spcPts val="600"/>
              </a:spcAft>
              <a:buSzPct val="100000"/>
              <a:buChar char="•"/>
            </a:pPr>
            <a:r>
              <a:rPr lang="en-US" sz="1600" b="1" dirty="0">
                <a:solidFill>
                  <a:schemeClr val="tx1"/>
                </a:solidFill>
              </a:rPr>
              <a:t>Credit_Score: </a:t>
            </a:r>
            <a:pPr indent="0" marL="0">
              <a:spcAft>
                <a:spcPts val="600"/>
              </a:spcAft>
              <a:buNone/>
            </a:pPr>
            <a:r>
              <a:rPr lang="en-US" sz="1600" dirty="0">
                <a:solidFill>
                  <a:schemeClr val="tx1"/>
                </a:solidFill>
              </a:rPr>
              <a:t>missing (to be predicted)</a:t>
            </a:r>
            <a:endParaRPr lang="en-US" sz="1600" dirty="0"/>
          </a:p>
        </p:txBody>
      </p:sp>
      <p:sp>
        <p:nvSpPr>
          <p:cNvPr id="15" name="test.csv note"/>
          <p:cNvSpPr txBox="1"/>
          <p:nvPr/>
        </p:nvSpPr>
        <p:spPr>
          <a:xfrm>
            <a:off x="6629400" y="4160520"/>
            <a:ext cx="4663440" cy="502920"/>
          </a:xfrm>
          <a:prstGeom prst="rect">
            <a:avLst/>
          </a:prstGeom>
          <a:noFill/>
          <a:ln/>
        </p:spPr>
        <p:txBody>
          <a:bodyPr wrap="square" lIns="0" tIns="0" rIns="0" bIns="0" rtlCol="0" anchor="ctr"/>
          <a:lstStyle/>
          <a:p>
            <a:pPr indent="0" marL="0">
              <a:buNone/>
            </a:pPr>
            <a:r>
              <a:rPr lang="en-US" sz="1400" i="1" dirty="0">
                <a:solidFill>
                  <a:srgbClr val="64748B"/>
                </a:solidFill>
              </a:rPr>
              <a:t>Kept for a future ML phase</a:t>
            </a:r>
            <a:endParaRPr lang="en-US" sz="1400" dirty="0"/>
          </a:p>
        </p:txBody>
      </p:sp>
      <p:sp>
        <p:nvSpPr>
          <p:cNvPr id="16" name="why train card"/>
          <p:cNvSpPr/>
          <p:nvPr/>
        </p:nvSpPr>
        <p:spPr>
          <a:xfrm>
            <a:off x="548640" y="5074920"/>
            <a:ext cx="11064240" cy="1051560"/>
          </a:xfrm>
          <a:prstGeom prst="roundRect">
            <a:avLst>
              <a:gd name="adj" fmla="val 10435"/>
            </a:avLst>
          </a:prstGeom>
          <a:solidFill>
            <a:srgbClr val="E0F2F6"/>
          </a:solidFill>
          <a:ln w="12700">
            <a:solidFill>
              <a:srgbClr val="E0F2F6"/>
            </a:solidFill>
            <a:prstDash val="solid"/>
          </a:ln>
        </p:spPr>
      </p:sp>
      <p:sp>
        <p:nvSpPr>
          <p:cNvPr id="17" name="why train"/>
          <p:cNvSpPr txBox="1"/>
          <p:nvPr/>
        </p:nvSpPr>
        <p:spPr>
          <a:xfrm>
            <a:off x="822960" y="5166360"/>
            <a:ext cx="10515600" cy="868680"/>
          </a:xfrm>
          <a:prstGeom prst="rect">
            <a:avLst/>
          </a:prstGeom>
          <a:noFill/>
          <a:ln/>
        </p:spPr>
        <p:txBody>
          <a:bodyPr wrap="square" lIns="0" tIns="0" rIns="0" bIns="0" rtlCol="0" anchor="ctr"/>
          <a:lstStyle/>
          <a:p>
            <a:pPr indent="0" marL="0">
              <a:buNone/>
            </a:pPr>
            <a:r>
              <a:rPr lang="en-US" sz="1500" b="1" dirty="0">
                <a:solidFill>
                  <a:schemeClr val="tx1"/>
                </a:solidFill>
              </a:rPr>
              <a:t>Why only train.csv? </a:t>
            </a:r>
            <a:pPr indent="0" marL="0">
              <a:buNone/>
            </a:pPr>
            <a:r>
              <a:rPr lang="en-US" sz="1500" dirty="0">
                <a:solidFill>
                  <a:schemeClr val="tx1"/>
                </a:solidFill>
              </a:rPr>
              <a:t>Every question in this EDA is about how the credit score relates to other columns. test.csv describes the same 12,500 customers for the next four months but has no credit score, so it cannot answer those questions.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PURPOSE</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Six questions about what drives the score</a:t>
            </a:r>
            <a:endParaRPr lang="en-US" sz="3200" dirty="0"/>
          </a:p>
        </p:txBody>
      </p:sp>
      <p:sp>
        <p:nvSpPr>
          <p:cNvPr id="4" name="goal"/>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1600" dirty="0">
                <a:solidFill>
                  <a:schemeClr val="tx1"/>
                </a:solidFill>
              </a:rPr>
              <a:t>Goal: clean a messy real-world dataset, then find which customer characteristics separate Poor from Good credit scores.</a:t>
            </a:r>
            <a:endParaRPr lang="en-US" sz="1600" dirty="0"/>
          </a:p>
        </p:txBody>
      </p:sp>
      <p:sp>
        <p:nvSpPr>
          <p:cNvPr id="5" name="question card 1"/>
          <p:cNvSpPr/>
          <p:nvPr/>
        </p:nvSpPr>
        <p:spPr>
          <a:xfrm>
            <a:off x="548640" y="2011680"/>
            <a:ext cx="5440680" cy="1188720"/>
          </a:xfrm>
          <a:prstGeom prst="roundRect">
            <a:avLst>
              <a:gd name="adj" fmla="val 9231"/>
            </a:avLst>
          </a:prstGeom>
          <a:solidFill>
            <a:srgbClr val="EEF6F8"/>
          </a:solidFill>
          <a:ln w="12700">
            <a:solidFill>
              <a:srgbClr val="EEF6F8"/>
            </a:solidFill>
            <a:prstDash val="solid"/>
          </a:ln>
        </p:spPr>
      </p:sp>
      <p:sp>
        <p:nvSpPr>
          <p:cNvPr id="6" name="q1 badge"/>
          <p:cNvSpPr/>
          <p:nvPr/>
        </p:nvSpPr>
        <p:spPr>
          <a:xfrm>
            <a:off x="777240" y="2286000"/>
            <a:ext cx="640080" cy="640080"/>
          </a:xfrm>
          <a:prstGeom prst="ellipse">
            <a:avLst/>
          </a:prstGeom>
          <a:solidFill>
            <a:srgbClr val="0E7490"/>
          </a:solidFill>
          <a:ln w="12700">
            <a:solidFill>
              <a:srgbClr val="0E7490"/>
            </a:solidFill>
            <a:prstDash val="solid"/>
          </a:ln>
        </p:spPr>
      </p:sp>
      <p:sp>
        <p:nvSpPr>
          <p:cNvPr id="7" name="q1 number"/>
          <p:cNvSpPr txBox="1"/>
          <p:nvPr/>
        </p:nvSpPr>
        <p:spPr>
          <a:xfrm>
            <a:off x="777240" y="22860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Q1</a:t>
            </a:r>
            <a:endParaRPr lang="en-US" sz="1600" dirty="0"/>
          </a:p>
        </p:txBody>
      </p:sp>
      <p:sp>
        <p:nvSpPr>
          <p:cNvPr id="8" name="q1 text"/>
          <p:cNvSpPr txBox="1"/>
          <p:nvPr/>
        </p:nvSpPr>
        <p:spPr>
          <a:xfrm>
            <a:off x="1600200" y="2121408"/>
            <a:ext cx="4206240" cy="969264"/>
          </a:xfrm>
          <a:prstGeom prst="rect">
            <a:avLst/>
          </a:prstGeom>
          <a:noFill/>
          <a:ln/>
        </p:spPr>
        <p:txBody>
          <a:bodyPr wrap="square" lIns="0" tIns="0" rIns="0" bIns="0" rtlCol="0" anchor="ctr"/>
          <a:lstStyle/>
          <a:p>
            <a:pPr indent="0" marL="0">
              <a:buNone/>
            </a:pPr>
            <a:r>
              <a:rPr lang="en-US" sz="1500" dirty="0">
                <a:solidFill>
                  <a:schemeClr val="tx1"/>
                </a:solidFill>
              </a:rPr>
              <a:t>Does the occupation of a customer affect the credit score?</a:t>
            </a:r>
            <a:endParaRPr lang="en-US" sz="1500" dirty="0"/>
          </a:p>
        </p:txBody>
      </p:sp>
      <p:sp>
        <p:nvSpPr>
          <p:cNvPr id="9" name="question card 2"/>
          <p:cNvSpPr/>
          <p:nvPr/>
        </p:nvSpPr>
        <p:spPr>
          <a:xfrm>
            <a:off x="6172200" y="2011680"/>
            <a:ext cx="5440680" cy="1188720"/>
          </a:xfrm>
          <a:prstGeom prst="roundRect">
            <a:avLst>
              <a:gd name="adj" fmla="val 9231"/>
            </a:avLst>
          </a:prstGeom>
          <a:solidFill>
            <a:srgbClr val="EEF6F8"/>
          </a:solidFill>
          <a:ln w="12700">
            <a:solidFill>
              <a:srgbClr val="EEF6F8"/>
            </a:solidFill>
            <a:prstDash val="solid"/>
          </a:ln>
        </p:spPr>
      </p:sp>
      <p:sp>
        <p:nvSpPr>
          <p:cNvPr id="10" name="q2 badge"/>
          <p:cNvSpPr/>
          <p:nvPr/>
        </p:nvSpPr>
        <p:spPr>
          <a:xfrm>
            <a:off x="6400800" y="2286000"/>
            <a:ext cx="640080" cy="640080"/>
          </a:xfrm>
          <a:prstGeom prst="ellipse">
            <a:avLst/>
          </a:prstGeom>
          <a:solidFill>
            <a:srgbClr val="0E7490"/>
          </a:solidFill>
          <a:ln w="12700">
            <a:solidFill>
              <a:srgbClr val="0E7490"/>
            </a:solidFill>
            <a:prstDash val="solid"/>
          </a:ln>
        </p:spPr>
      </p:sp>
      <p:sp>
        <p:nvSpPr>
          <p:cNvPr id="11" name="q2 number"/>
          <p:cNvSpPr txBox="1"/>
          <p:nvPr/>
        </p:nvSpPr>
        <p:spPr>
          <a:xfrm>
            <a:off x="6400800" y="22860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Q2</a:t>
            </a:r>
            <a:endParaRPr lang="en-US" sz="1600" dirty="0"/>
          </a:p>
        </p:txBody>
      </p:sp>
      <p:sp>
        <p:nvSpPr>
          <p:cNvPr id="12" name="q2 text"/>
          <p:cNvSpPr txBox="1"/>
          <p:nvPr/>
        </p:nvSpPr>
        <p:spPr>
          <a:xfrm>
            <a:off x="7223760" y="2121408"/>
            <a:ext cx="4206240" cy="969264"/>
          </a:xfrm>
          <a:prstGeom prst="rect">
            <a:avLst/>
          </a:prstGeom>
          <a:noFill/>
          <a:ln/>
        </p:spPr>
        <p:txBody>
          <a:bodyPr wrap="square" lIns="0" tIns="0" rIns="0" bIns="0" rtlCol="0" anchor="ctr"/>
          <a:lstStyle/>
          <a:p>
            <a:pPr indent="0" marL="0">
              <a:buNone/>
            </a:pPr>
            <a:r>
              <a:rPr lang="en-US" sz="1500" dirty="0">
                <a:solidFill>
                  <a:schemeClr val="tx1"/>
                </a:solidFill>
              </a:rPr>
              <a:t>Do customers with higher income get better credit scores?</a:t>
            </a:r>
            <a:endParaRPr lang="en-US" sz="1500" dirty="0"/>
          </a:p>
        </p:txBody>
      </p:sp>
      <p:sp>
        <p:nvSpPr>
          <p:cNvPr id="13" name="question card 3"/>
          <p:cNvSpPr/>
          <p:nvPr/>
        </p:nvSpPr>
        <p:spPr>
          <a:xfrm>
            <a:off x="548640" y="3383280"/>
            <a:ext cx="5440680" cy="1188720"/>
          </a:xfrm>
          <a:prstGeom prst="roundRect">
            <a:avLst>
              <a:gd name="adj" fmla="val 9231"/>
            </a:avLst>
          </a:prstGeom>
          <a:solidFill>
            <a:srgbClr val="EEF6F8"/>
          </a:solidFill>
          <a:ln w="12700">
            <a:solidFill>
              <a:srgbClr val="EEF6F8"/>
            </a:solidFill>
            <a:prstDash val="solid"/>
          </a:ln>
        </p:spPr>
      </p:sp>
      <p:sp>
        <p:nvSpPr>
          <p:cNvPr id="14" name="q3 badge"/>
          <p:cNvSpPr/>
          <p:nvPr/>
        </p:nvSpPr>
        <p:spPr>
          <a:xfrm>
            <a:off x="777240" y="3657600"/>
            <a:ext cx="640080" cy="640080"/>
          </a:xfrm>
          <a:prstGeom prst="ellipse">
            <a:avLst/>
          </a:prstGeom>
          <a:solidFill>
            <a:srgbClr val="0E7490"/>
          </a:solidFill>
          <a:ln w="12700">
            <a:solidFill>
              <a:srgbClr val="0E7490"/>
            </a:solidFill>
            <a:prstDash val="solid"/>
          </a:ln>
        </p:spPr>
      </p:sp>
      <p:sp>
        <p:nvSpPr>
          <p:cNvPr id="15" name="q3 number"/>
          <p:cNvSpPr txBox="1"/>
          <p:nvPr/>
        </p:nvSpPr>
        <p:spPr>
          <a:xfrm>
            <a:off x="777240" y="3657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Q3</a:t>
            </a:r>
            <a:endParaRPr lang="en-US" sz="1600" dirty="0"/>
          </a:p>
        </p:txBody>
      </p:sp>
      <p:sp>
        <p:nvSpPr>
          <p:cNvPr id="16" name="q3 text"/>
          <p:cNvSpPr txBox="1"/>
          <p:nvPr/>
        </p:nvSpPr>
        <p:spPr>
          <a:xfrm>
            <a:off x="1600200" y="3493008"/>
            <a:ext cx="4206240" cy="969264"/>
          </a:xfrm>
          <a:prstGeom prst="rect">
            <a:avLst/>
          </a:prstGeom>
          <a:noFill/>
          <a:ln/>
        </p:spPr>
        <p:txBody>
          <a:bodyPr wrap="square" lIns="0" tIns="0" rIns="0" bIns="0" rtlCol="0" anchor="ctr"/>
          <a:lstStyle/>
          <a:p>
            <a:pPr indent="0" marL="0">
              <a:buNone/>
            </a:pPr>
            <a:r>
              <a:rPr lang="en-US" sz="1500" dirty="0">
                <a:solidFill>
                  <a:schemeClr val="tx1"/>
                </a:solidFill>
              </a:rPr>
              <a:t>How does late payment behaviour relate to the credit score?</a:t>
            </a:r>
            <a:endParaRPr lang="en-US" sz="1500" dirty="0"/>
          </a:p>
        </p:txBody>
      </p:sp>
      <p:sp>
        <p:nvSpPr>
          <p:cNvPr id="17" name="question card 4"/>
          <p:cNvSpPr/>
          <p:nvPr/>
        </p:nvSpPr>
        <p:spPr>
          <a:xfrm>
            <a:off x="6172200" y="3383280"/>
            <a:ext cx="5440680" cy="1188720"/>
          </a:xfrm>
          <a:prstGeom prst="roundRect">
            <a:avLst>
              <a:gd name="adj" fmla="val 9231"/>
            </a:avLst>
          </a:prstGeom>
          <a:solidFill>
            <a:srgbClr val="EEF6F8"/>
          </a:solidFill>
          <a:ln w="12700">
            <a:solidFill>
              <a:srgbClr val="EEF6F8"/>
            </a:solidFill>
            <a:prstDash val="solid"/>
          </a:ln>
        </p:spPr>
      </p:sp>
      <p:sp>
        <p:nvSpPr>
          <p:cNvPr id="18" name="q4 badge"/>
          <p:cNvSpPr/>
          <p:nvPr/>
        </p:nvSpPr>
        <p:spPr>
          <a:xfrm>
            <a:off x="6400800" y="3657600"/>
            <a:ext cx="640080" cy="640080"/>
          </a:xfrm>
          <a:prstGeom prst="ellipse">
            <a:avLst/>
          </a:prstGeom>
          <a:solidFill>
            <a:srgbClr val="0E7490"/>
          </a:solidFill>
          <a:ln w="12700">
            <a:solidFill>
              <a:srgbClr val="0E7490"/>
            </a:solidFill>
            <a:prstDash val="solid"/>
          </a:ln>
        </p:spPr>
      </p:sp>
      <p:sp>
        <p:nvSpPr>
          <p:cNvPr id="19" name="q4 number"/>
          <p:cNvSpPr txBox="1"/>
          <p:nvPr/>
        </p:nvSpPr>
        <p:spPr>
          <a:xfrm>
            <a:off x="6400800" y="3657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Q4</a:t>
            </a:r>
            <a:endParaRPr lang="en-US" sz="1600" dirty="0"/>
          </a:p>
        </p:txBody>
      </p:sp>
      <p:sp>
        <p:nvSpPr>
          <p:cNvPr id="20" name="q4 text"/>
          <p:cNvSpPr txBox="1"/>
          <p:nvPr/>
        </p:nvSpPr>
        <p:spPr>
          <a:xfrm>
            <a:off x="7223760" y="3493008"/>
            <a:ext cx="4206240" cy="969264"/>
          </a:xfrm>
          <a:prstGeom prst="rect">
            <a:avLst/>
          </a:prstGeom>
          <a:noFill/>
          <a:ln/>
        </p:spPr>
        <p:txBody>
          <a:bodyPr wrap="square" lIns="0" tIns="0" rIns="0" bIns="0" rtlCol="0" anchor="ctr"/>
          <a:lstStyle/>
          <a:p>
            <a:pPr indent="0" marL="0">
              <a:buNone/>
            </a:pPr>
            <a:r>
              <a:rPr lang="en-US" sz="1500" dirty="0">
                <a:solidFill>
                  <a:schemeClr val="tx1"/>
                </a:solidFill>
              </a:rPr>
              <a:t>How do outstanding debt and interest rate differ between score groups?</a:t>
            </a:r>
            <a:endParaRPr lang="en-US" sz="1500" dirty="0"/>
          </a:p>
        </p:txBody>
      </p:sp>
      <p:sp>
        <p:nvSpPr>
          <p:cNvPr id="21" name="question card 5"/>
          <p:cNvSpPr/>
          <p:nvPr/>
        </p:nvSpPr>
        <p:spPr>
          <a:xfrm>
            <a:off x="548640" y="4754880"/>
            <a:ext cx="5440680" cy="1188720"/>
          </a:xfrm>
          <a:prstGeom prst="roundRect">
            <a:avLst>
              <a:gd name="adj" fmla="val 9231"/>
            </a:avLst>
          </a:prstGeom>
          <a:solidFill>
            <a:srgbClr val="EEF6F8"/>
          </a:solidFill>
          <a:ln w="12700">
            <a:solidFill>
              <a:srgbClr val="EEF6F8"/>
            </a:solidFill>
            <a:prstDash val="solid"/>
          </a:ln>
        </p:spPr>
      </p:sp>
      <p:sp>
        <p:nvSpPr>
          <p:cNvPr id="22" name="q5 badge"/>
          <p:cNvSpPr/>
          <p:nvPr/>
        </p:nvSpPr>
        <p:spPr>
          <a:xfrm>
            <a:off x="777240" y="5029200"/>
            <a:ext cx="640080" cy="640080"/>
          </a:xfrm>
          <a:prstGeom prst="ellipse">
            <a:avLst/>
          </a:prstGeom>
          <a:solidFill>
            <a:srgbClr val="0E7490"/>
          </a:solidFill>
          <a:ln w="12700">
            <a:solidFill>
              <a:srgbClr val="0E7490"/>
            </a:solidFill>
            <a:prstDash val="solid"/>
          </a:ln>
        </p:spPr>
      </p:sp>
      <p:sp>
        <p:nvSpPr>
          <p:cNvPr id="23" name="q5 number"/>
          <p:cNvSpPr txBox="1"/>
          <p:nvPr/>
        </p:nvSpPr>
        <p:spPr>
          <a:xfrm>
            <a:off x="777240" y="5029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Q5</a:t>
            </a:r>
            <a:endParaRPr lang="en-US" sz="1600" dirty="0"/>
          </a:p>
        </p:txBody>
      </p:sp>
      <p:sp>
        <p:nvSpPr>
          <p:cNvPr id="24" name="q5 text"/>
          <p:cNvSpPr txBox="1"/>
          <p:nvPr/>
        </p:nvSpPr>
        <p:spPr>
          <a:xfrm>
            <a:off x="1600200" y="4864608"/>
            <a:ext cx="4206240" cy="969264"/>
          </a:xfrm>
          <a:prstGeom prst="rect">
            <a:avLst/>
          </a:prstGeom>
          <a:noFill/>
          <a:ln/>
        </p:spPr>
        <p:txBody>
          <a:bodyPr wrap="square" lIns="0" tIns="0" rIns="0" bIns="0" rtlCol="0" anchor="ctr"/>
          <a:lstStyle/>
          <a:p>
            <a:pPr indent="0" marL="0">
              <a:buNone/>
            </a:pPr>
            <a:r>
              <a:rPr lang="en-US" sz="1500" dirty="0">
                <a:solidFill>
                  <a:schemeClr val="tx1"/>
                </a:solidFill>
              </a:rPr>
              <a:t>Does having more credit cards, bank accounts or loans worsen the score?</a:t>
            </a:r>
            <a:endParaRPr lang="en-US" sz="1500" dirty="0"/>
          </a:p>
        </p:txBody>
      </p:sp>
      <p:sp>
        <p:nvSpPr>
          <p:cNvPr id="25" name="question card 6"/>
          <p:cNvSpPr/>
          <p:nvPr/>
        </p:nvSpPr>
        <p:spPr>
          <a:xfrm>
            <a:off x="6172200" y="4754880"/>
            <a:ext cx="5440680" cy="1188720"/>
          </a:xfrm>
          <a:prstGeom prst="roundRect">
            <a:avLst>
              <a:gd name="adj" fmla="val 9231"/>
            </a:avLst>
          </a:prstGeom>
          <a:solidFill>
            <a:srgbClr val="EEF6F8"/>
          </a:solidFill>
          <a:ln w="12700">
            <a:solidFill>
              <a:srgbClr val="EEF6F8"/>
            </a:solidFill>
            <a:prstDash val="solid"/>
          </a:ln>
        </p:spPr>
      </p:sp>
      <p:sp>
        <p:nvSpPr>
          <p:cNvPr id="26" name="q6 badge"/>
          <p:cNvSpPr/>
          <p:nvPr/>
        </p:nvSpPr>
        <p:spPr>
          <a:xfrm>
            <a:off x="6400800" y="5029200"/>
            <a:ext cx="640080" cy="640080"/>
          </a:xfrm>
          <a:prstGeom prst="ellipse">
            <a:avLst/>
          </a:prstGeom>
          <a:solidFill>
            <a:srgbClr val="0E7490"/>
          </a:solidFill>
          <a:ln w="12700">
            <a:solidFill>
              <a:srgbClr val="0E7490"/>
            </a:solidFill>
            <a:prstDash val="solid"/>
          </a:ln>
        </p:spPr>
      </p:sp>
      <p:sp>
        <p:nvSpPr>
          <p:cNvPr id="27" name="q6 number"/>
          <p:cNvSpPr txBox="1"/>
          <p:nvPr/>
        </p:nvSpPr>
        <p:spPr>
          <a:xfrm>
            <a:off x="6400800" y="5029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Q6</a:t>
            </a:r>
            <a:endParaRPr lang="en-US" sz="1600" dirty="0"/>
          </a:p>
        </p:txBody>
      </p:sp>
      <p:sp>
        <p:nvSpPr>
          <p:cNvPr id="28" name="q6 text"/>
          <p:cNvSpPr txBox="1"/>
          <p:nvPr/>
        </p:nvSpPr>
        <p:spPr>
          <a:xfrm>
            <a:off x="7223760" y="4864608"/>
            <a:ext cx="4206240" cy="969264"/>
          </a:xfrm>
          <a:prstGeom prst="rect">
            <a:avLst/>
          </a:prstGeom>
          <a:noFill/>
          <a:ln/>
        </p:spPr>
        <p:txBody>
          <a:bodyPr wrap="square" lIns="0" tIns="0" rIns="0" bIns="0" rtlCol="0" anchor="ctr"/>
          <a:lstStyle/>
          <a:p>
            <a:pPr indent="0" marL="0">
              <a:buNone/>
            </a:pPr>
            <a:r>
              <a:rPr lang="en-US" sz="1500" dirty="0">
                <a:solidFill>
                  <a:schemeClr val="tx1"/>
                </a:solidFill>
              </a:rPr>
              <a:t>Do a longer credit history and a better credit mix mean a better score?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DATA QUALITY</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raw data was far from clean</a:t>
            </a:r>
            <a:endParaRPr lang="en-US" sz="3200" dirty="0"/>
          </a:p>
        </p:txBody>
      </p:sp>
      <p:sp>
        <p:nvSpPr>
          <p:cNvPr id="4" name="issue card 1"/>
          <p:cNvSpPr/>
          <p:nvPr/>
        </p:nvSpPr>
        <p:spPr>
          <a:xfrm>
            <a:off x="548640" y="1600200"/>
            <a:ext cx="5440680" cy="2011680"/>
          </a:xfrm>
          <a:prstGeom prst="roundRect">
            <a:avLst>
              <a:gd name="adj" fmla="val 5455"/>
            </a:avLst>
          </a:prstGeom>
          <a:solidFill>
            <a:srgbClr val="EEF6F8"/>
          </a:solidFill>
          <a:ln w="12700">
            <a:solidFill>
              <a:srgbClr val="EEF6F8"/>
            </a:solidFill>
            <a:prstDash val="solid"/>
          </a:ln>
        </p:spPr>
      </p:sp>
      <p:sp>
        <p:nvSpPr>
          <p:cNvPr id="5" name="issue 1 circle"/>
          <p:cNvSpPr/>
          <p:nvPr/>
        </p:nvSpPr>
        <p:spPr>
          <a:xfrm>
            <a:off x="822960" y="1920240"/>
            <a:ext cx="731520" cy="731520"/>
          </a:xfrm>
          <a:prstGeom prst="ellipse">
            <a:avLst/>
          </a:prstGeom>
          <a:solidFill>
            <a:srgbClr val="DC2626"/>
          </a:solidFill>
          <a:ln w="12700">
            <a:solidFill>
              <a:srgbClr val="DC2626"/>
            </a:solidFill>
            <a:prstDash val="solid"/>
          </a:ln>
        </p:spPr>
      </p:sp>
      <p:pic>
        <p:nvPicPr>
          <p:cNvPr id="6" name="issue 1 icon" descr="preencoded.png">    </p:cNvPr>
          <p:cNvPicPr>
            <a:picLocks noChangeAspect="1"/>
          </p:cNvPicPr>
          <p:nvPr/>
        </p:nvPicPr>
        <p:blipFill>
          <a:blip r:embed="rId1"/>
          <a:stretch>
            <a:fillRect/>
          </a:stretch>
        </p:blipFill>
        <p:spPr>
          <a:xfrm>
            <a:off x="1020470" y="2117750"/>
            <a:ext cx="336499" cy="336499"/>
          </a:xfrm>
          <a:prstGeom prst="rect">
            <a:avLst/>
          </a:prstGeom>
        </p:spPr>
      </p:pic>
      <p:sp>
        <p:nvSpPr>
          <p:cNvPr id="7" name="issue head 1"/>
          <p:cNvSpPr txBox="1"/>
          <p:nvPr/>
        </p:nvSpPr>
        <p:spPr>
          <a:xfrm>
            <a:off x="1783080" y="1874520"/>
            <a:ext cx="4023360" cy="457200"/>
          </a:xfrm>
          <a:prstGeom prst="rect">
            <a:avLst/>
          </a:prstGeom>
          <a:noFill/>
          <a:ln/>
        </p:spPr>
        <p:txBody>
          <a:bodyPr wrap="square" lIns="0" tIns="0" rIns="0" bIns="0" rtlCol="0" anchor="ctr"/>
          <a:lstStyle/>
          <a:p>
            <a:pPr indent="0" marL="0">
              <a:buNone/>
            </a:pPr>
            <a:r>
              <a:rPr lang="en-US" sz="1900" b="1" dirty="0">
                <a:solidFill>
                  <a:schemeClr val="tx2"/>
                </a:solidFill>
              </a:rPr>
              <a:t>Numbers stored as text</a:t>
            </a:r>
            <a:endParaRPr lang="en-US" sz="1900" dirty="0"/>
          </a:p>
        </p:txBody>
      </p:sp>
      <p:sp>
        <p:nvSpPr>
          <p:cNvPr id="8" name="issue body 1"/>
          <p:cNvSpPr txBox="1"/>
          <p:nvPr/>
        </p:nvSpPr>
        <p:spPr>
          <a:xfrm>
            <a:off x="1783080" y="2377440"/>
            <a:ext cx="4023360" cy="1097280"/>
          </a:xfrm>
          <a:prstGeom prst="rect">
            <a:avLst/>
          </a:prstGeom>
          <a:noFill/>
          <a:ln/>
        </p:spPr>
        <p:txBody>
          <a:bodyPr wrap="square" lIns="0" tIns="0" rIns="0" bIns="0" rtlCol="0" anchor="t"/>
          <a:lstStyle/>
          <a:p>
            <a:pPr indent="0" marL="0">
              <a:buNone/>
            </a:pPr>
            <a:r>
              <a:rPr lang="en-US" sz="1500" dirty="0">
                <a:solidFill>
                  <a:schemeClr val="tx1"/>
                </a:solidFill>
              </a:rPr>
              <a:t>Age “28_”, income “34847.84_”, loans “0_”: trailing underscores made 8 numeric columns text.</a:t>
            </a:r>
            <a:endParaRPr lang="en-US" sz="1500" dirty="0"/>
          </a:p>
        </p:txBody>
      </p:sp>
      <p:sp>
        <p:nvSpPr>
          <p:cNvPr id="9" name="issue card 2"/>
          <p:cNvSpPr/>
          <p:nvPr/>
        </p:nvSpPr>
        <p:spPr>
          <a:xfrm>
            <a:off x="6172200" y="1600200"/>
            <a:ext cx="5440680" cy="2011680"/>
          </a:xfrm>
          <a:prstGeom prst="roundRect">
            <a:avLst>
              <a:gd name="adj" fmla="val 5455"/>
            </a:avLst>
          </a:prstGeom>
          <a:solidFill>
            <a:srgbClr val="EEF6F8"/>
          </a:solidFill>
          <a:ln w="12700">
            <a:solidFill>
              <a:srgbClr val="EEF6F8"/>
            </a:solidFill>
            <a:prstDash val="solid"/>
          </a:ln>
        </p:spPr>
      </p:sp>
      <p:sp>
        <p:nvSpPr>
          <p:cNvPr id="10" name="issue 2 circle"/>
          <p:cNvSpPr/>
          <p:nvPr/>
        </p:nvSpPr>
        <p:spPr>
          <a:xfrm>
            <a:off x="6446520" y="1920240"/>
            <a:ext cx="731520" cy="731520"/>
          </a:xfrm>
          <a:prstGeom prst="ellipse">
            <a:avLst/>
          </a:prstGeom>
          <a:solidFill>
            <a:srgbClr val="DC2626"/>
          </a:solidFill>
          <a:ln w="12700">
            <a:solidFill>
              <a:srgbClr val="DC2626"/>
            </a:solidFill>
            <a:prstDash val="solid"/>
          </a:ln>
        </p:spPr>
      </p:sp>
      <p:pic>
        <p:nvPicPr>
          <p:cNvPr id="11" name="issue 2 icon" descr="preencoded.png">    </p:cNvPr>
          <p:cNvPicPr>
            <a:picLocks noChangeAspect="1"/>
          </p:cNvPicPr>
          <p:nvPr/>
        </p:nvPicPr>
        <p:blipFill>
          <a:blip r:embed="rId2"/>
          <a:stretch>
            <a:fillRect/>
          </a:stretch>
        </p:blipFill>
        <p:spPr>
          <a:xfrm>
            <a:off x="6644030" y="2117750"/>
            <a:ext cx="336499" cy="336499"/>
          </a:xfrm>
          <a:prstGeom prst="rect">
            <a:avLst/>
          </a:prstGeom>
        </p:spPr>
      </p:pic>
      <p:sp>
        <p:nvSpPr>
          <p:cNvPr id="12" name="issue head 2"/>
          <p:cNvSpPr txBox="1"/>
          <p:nvPr/>
        </p:nvSpPr>
        <p:spPr>
          <a:xfrm>
            <a:off x="7406640" y="1874520"/>
            <a:ext cx="4023360" cy="457200"/>
          </a:xfrm>
          <a:prstGeom prst="rect">
            <a:avLst/>
          </a:prstGeom>
          <a:noFill/>
          <a:ln/>
        </p:spPr>
        <p:txBody>
          <a:bodyPr wrap="square" lIns="0" tIns="0" rIns="0" bIns="0" rtlCol="0" anchor="ctr"/>
          <a:lstStyle/>
          <a:p>
            <a:pPr indent="0" marL="0">
              <a:buNone/>
            </a:pPr>
            <a:r>
              <a:rPr lang="en-US" sz="1900" b="1" dirty="0">
                <a:solidFill>
                  <a:schemeClr val="tx2"/>
                </a:solidFill>
              </a:rPr>
              <a:t>Impossible values</a:t>
            </a:r>
            <a:endParaRPr lang="en-US" sz="1900" dirty="0"/>
          </a:p>
        </p:txBody>
      </p:sp>
      <p:sp>
        <p:nvSpPr>
          <p:cNvPr id="13" name="issue body 2"/>
          <p:cNvSpPr txBox="1"/>
          <p:nvPr/>
        </p:nvSpPr>
        <p:spPr>
          <a:xfrm>
            <a:off x="7406640" y="2377440"/>
            <a:ext cx="4023360" cy="1097280"/>
          </a:xfrm>
          <a:prstGeom prst="rect">
            <a:avLst/>
          </a:prstGeom>
          <a:noFill/>
          <a:ln/>
        </p:spPr>
        <p:txBody>
          <a:bodyPr wrap="square" lIns="0" tIns="0" rIns="0" bIns="0" rtlCol="0" anchor="t"/>
          <a:lstStyle/>
          <a:p>
            <a:pPr indent="0" marL="0">
              <a:buNone/>
            </a:pPr>
            <a:r>
              <a:rPr lang="en-US" sz="1500" dirty="0">
                <a:solidFill>
                  <a:schemeClr val="tx1"/>
                </a:solidFill>
              </a:rPr>
              <a:t>Age −500 and 8,698 · 1,499 credit cards · interest rate 5,797% · −100 loans.</a:t>
            </a:r>
            <a:endParaRPr lang="en-US" sz="1500" dirty="0"/>
          </a:p>
        </p:txBody>
      </p:sp>
      <p:sp>
        <p:nvSpPr>
          <p:cNvPr id="14" name="issue card 3"/>
          <p:cNvSpPr/>
          <p:nvPr/>
        </p:nvSpPr>
        <p:spPr>
          <a:xfrm>
            <a:off x="548640" y="3840480"/>
            <a:ext cx="5440680" cy="2011680"/>
          </a:xfrm>
          <a:prstGeom prst="roundRect">
            <a:avLst>
              <a:gd name="adj" fmla="val 5455"/>
            </a:avLst>
          </a:prstGeom>
          <a:solidFill>
            <a:srgbClr val="EEF6F8"/>
          </a:solidFill>
          <a:ln w="12700">
            <a:solidFill>
              <a:srgbClr val="EEF6F8"/>
            </a:solidFill>
            <a:prstDash val="solid"/>
          </a:ln>
        </p:spPr>
      </p:sp>
      <p:sp>
        <p:nvSpPr>
          <p:cNvPr id="15" name="issue 3 circle"/>
          <p:cNvSpPr/>
          <p:nvPr/>
        </p:nvSpPr>
        <p:spPr>
          <a:xfrm>
            <a:off x="822960" y="4160520"/>
            <a:ext cx="731520" cy="731520"/>
          </a:xfrm>
          <a:prstGeom prst="ellipse">
            <a:avLst/>
          </a:prstGeom>
          <a:solidFill>
            <a:srgbClr val="DC2626"/>
          </a:solidFill>
          <a:ln w="12700">
            <a:solidFill>
              <a:srgbClr val="DC2626"/>
            </a:solidFill>
            <a:prstDash val="solid"/>
          </a:ln>
        </p:spPr>
      </p:sp>
      <p:pic>
        <p:nvPicPr>
          <p:cNvPr id="16" name="issue 3 icon" descr="preencoded.png">    </p:cNvPr>
          <p:cNvPicPr>
            <a:picLocks noChangeAspect="1"/>
          </p:cNvPicPr>
          <p:nvPr/>
        </p:nvPicPr>
        <p:blipFill>
          <a:blip r:embed="rId3"/>
          <a:stretch>
            <a:fillRect/>
          </a:stretch>
        </p:blipFill>
        <p:spPr>
          <a:xfrm>
            <a:off x="1020470" y="4358030"/>
            <a:ext cx="336499" cy="336499"/>
          </a:xfrm>
          <a:prstGeom prst="rect">
            <a:avLst/>
          </a:prstGeom>
        </p:spPr>
      </p:pic>
      <p:sp>
        <p:nvSpPr>
          <p:cNvPr id="17" name="issue head 3"/>
          <p:cNvSpPr txBox="1"/>
          <p:nvPr/>
        </p:nvSpPr>
        <p:spPr>
          <a:xfrm>
            <a:off x="1783080" y="4114800"/>
            <a:ext cx="4023360" cy="457200"/>
          </a:xfrm>
          <a:prstGeom prst="rect">
            <a:avLst/>
          </a:prstGeom>
          <a:noFill/>
          <a:ln/>
        </p:spPr>
        <p:txBody>
          <a:bodyPr wrap="square" lIns="0" tIns="0" rIns="0" bIns="0" rtlCol="0" anchor="ctr"/>
          <a:lstStyle/>
          <a:p>
            <a:pPr indent="0" marL="0">
              <a:buNone/>
            </a:pPr>
            <a:r>
              <a:rPr lang="en-US" sz="1900" b="1" dirty="0">
                <a:solidFill>
                  <a:schemeClr val="tx2"/>
                </a:solidFill>
              </a:rPr>
              <a:t>Placeholders &amp; garbage</a:t>
            </a:r>
            <a:endParaRPr lang="en-US" sz="1900" dirty="0"/>
          </a:p>
        </p:txBody>
      </p:sp>
      <p:sp>
        <p:nvSpPr>
          <p:cNvPr id="18" name="issue body 3"/>
          <p:cNvSpPr txBox="1"/>
          <p:nvPr/>
        </p:nvSpPr>
        <p:spPr>
          <a:xfrm>
            <a:off x="1783080" y="4617720"/>
            <a:ext cx="4023360" cy="1097280"/>
          </a:xfrm>
          <a:prstGeom prst="rect">
            <a:avLst/>
          </a:prstGeom>
          <a:noFill/>
          <a:ln/>
        </p:spPr>
        <p:txBody>
          <a:bodyPr wrap="square" lIns="0" tIns="0" rIns="0" bIns="0" rtlCol="0" anchor="t"/>
          <a:lstStyle/>
          <a:p>
            <a:pPr indent="0" marL="0">
              <a:buNone/>
            </a:pPr>
            <a:r>
              <a:rPr lang="en-US" sz="1500" dirty="0">
                <a:solidFill>
                  <a:schemeClr val="tx1"/>
                </a:solidFill>
              </a:rPr>
              <a:t>“__10000__” invested, balance “−3.3e+26”, behaviour “!@9#%8”, occupation “_______”.</a:t>
            </a:r>
            <a:endParaRPr lang="en-US" sz="1500" dirty="0"/>
          </a:p>
        </p:txBody>
      </p:sp>
      <p:sp>
        <p:nvSpPr>
          <p:cNvPr id="19" name="issue card 4"/>
          <p:cNvSpPr/>
          <p:nvPr/>
        </p:nvSpPr>
        <p:spPr>
          <a:xfrm>
            <a:off x="6172200" y="3840480"/>
            <a:ext cx="5440680" cy="2011680"/>
          </a:xfrm>
          <a:prstGeom prst="roundRect">
            <a:avLst>
              <a:gd name="adj" fmla="val 5455"/>
            </a:avLst>
          </a:prstGeom>
          <a:solidFill>
            <a:srgbClr val="EEF6F8"/>
          </a:solidFill>
          <a:ln w="12700">
            <a:solidFill>
              <a:srgbClr val="EEF6F8"/>
            </a:solidFill>
            <a:prstDash val="solid"/>
          </a:ln>
        </p:spPr>
      </p:sp>
      <p:sp>
        <p:nvSpPr>
          <p:cNvPr id="20" name="issue 4 circle"/>
          <p:cNvSpPr/>
          <p:nvPr/>
        </p:nvSpPr>
        <p:spPr>
          <a:xfrm>
            <a:off x="6446520" y="4160520"/>
            <a:ext cx="731520" cy="731520"/>
          </a:xfrm>
          <a:prstGeom prst="ellipse">
            <a:avLst/>
          </a:prstGeom>
          <a:solidFill>
            <a:srgbClr val="DC2626"/>
          </a:solidFill>
          <a:ln w="12700">
            <a:solidFill>
              <a:srgbClr val="DC2626"/>
            </a:solidFill>
            <a:prstDash val="solid"/>
          </a:ln>
        </p:spPr>
      </p:sp>
      <p:pic>
        <p:nvPicPr>
          <p:cNvPr id="21" name="issue 4 icon" descr="preencoded.png">    </p:cNvPr>
          <p:cNvPicPr>
            <a:picLocks noChangeAspect="1"/>
          </p:cNvPicPr>
          <p:nvPr/>
        </p:nvPicPr>
        <p:blipFill>
          <a:blip r:embed="rId4"/>
          <a:stretch>
            <a:fillRect/>
          </a:stretch>
        </p:blipFill>
        <p:spPr>
          <a:xfrm>
            <a:off x="6644030" y="4358030"/>
            <a:ext cx="336499" cy="336499"/>
          </a:xfrm>
          <a:prstGeom prst="rect">
            <a:avLst/>
          </a:prstGeom>
        </p:spPr>
      </p:pic>
      <p:sp>
        <p:nvSpPr>
          <p:cNvPr id="22" name="issue head 4"/>
          <p:cNvSpPr txBox="1"/>
          <p:nvPr/>
        </p:nvSpPr>
        <p:spPr>
          <a:xfrm>
            <a:off x="7406640" y="4114800"/>
            <a:ext cx="4023360" cy="457200"/>
          </a:xfrm>
          <a:prstGeom prst="rect">
            <a:avLst/>
          </a:prstGeom>
          <a:noFill/>
          <a:ln/>
        </p:spPr>
        <p:txBody>
          <a:bodyPr wrap="square" lIns="0" tIns="0" rIns="0" bIns="0" rtlCol="0" anchor="ctr"/>
          <a:lstStyle/>
          <a:p>
            <a:pPr indent="0" marL="0">
              <a:buNone/>
            </a:pPr>
            <a:r>
              <a:rPr lang="en-US" sz="1900" b="1" dirty="0">
                <a:solidFill>
                  <a:schemeClr val="tx2"/>
                </a:solidFill>
              </a:rPr>
              <a:t>Missing values</a:t>
            </a:r>
            <a:endParaRPr lang="en-US" sz="1900" dirty="0"/>
          </a:p>
        </p:txBody>
      </p:sp>
      <p:sp>
        <p:nvSpPr>
          <p:cNvPr id="23" name="issue body 4"/>
          <p:cNvSpPr txBox="1"/>
          <p:nvPr/>
        </p:nvSpPr>
        <p:spPr>
          <a:xfrm>
            <a:off x="7406640" y="4617720"/>
            <a:ext cx="4023360" cy="1097280"/>
          </a:xfrm>
          <a:prstGeom prst="rect">
            <a:avLst/>
          </a:prstGeom>
          <a:noFill/>
          <a:ln/>
        </p:spPr>
        <p:txBody>
          <a:bodyPr wrap="square" lIns="0" tIns="0" rIns="0" bIns="0" rtlCol="0" anchor="t"/>
          <a:lstStyle/>
          <a:p>
            <a:pPr indent="0" marL="0">
              <a:buNone/>
            </a:pPr>
            <a:r>
              <a:rPr lang="en-US" sz="1500" dirty="0">
                <a:solidFill>
                  <a:schemeClr val="tx1"/>
                </a:solidFill>
              </a:rPr>
              <a:t>Up to 15% missing (Monthly In-hand Salary), plus Type of Loan 11%, Credit History Age 9%.</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CLEANING</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Fix each value using the same customer's history</a:t>
            </a:r>
            <a:endParaRPr lang="en-US" sz="3200" dirty="0"/>
          </a:p>
        </p:txBody>
      </p:sp>
      <p:sp>
        <p:nvSpPr>
          <p:cNvPr id="4" name="step card 1"/>
          <p:cNvSpPr/>
          <p:nvPr/>
        </p:nvSpPr>
        <p:spPr>
          <a:xfrm>
            <a:off x="548640" y="1600200"/>
            <a:ext cx="2606040" cy="2286000"/>
          </a:xfrm>
          <a:prstGeom prst="roundRect">
            <a:avLst>
              <a:gd name="adj" fmla="val 4800"/>
            </a:avLst>
          </a:prstGeom>
          <a:solidFill>
            <a:srgbClr val="EEF6F8"/>
          </a:solidFill>
          <a:ln w="12700">
            <a:solidFill>
              <a:srgbClr val="EEF6F8"/>
            </a:solidFill>
            <a:prstDash val="solid"/>
          </a:ln>
        </p:spPr>
      </p:sp>
      <p:sp>
        <p:nvSpPr>
          <p:cNvPr id="5" name="step 1 number"/>
          <p:cNvSpPr txBox="1"/>
          <p:nvPr/>
        </p:nvSpPr>
        <p:spPr>
          <a:xfrm>
            <a:off x="777240" y="1783080"/>
            <a:ext cx="73152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6" name="step 1 head"/>
          <p:cNvSpPr txBox="1"/>
          <p:nvPr/>
        </p:nvSpPr>
        <p:spPr>
          <a:xfrm>
            <a:off x="777240" y="2514600"/>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Fix types</a:t>
            </a:r>
            <a:endParaRPr lang="en-US" sz="1800" dirty="0"/>
          </a:p>
        </p:txBody>
      </p:sp>
      <p:sp>
        <p:nvSpPr>
          <p:cNvPr id="7" name="step 1 body"/>
          <p:cNvSpPr txBox="1"/>
          <p:nvPr/>
        </p:nvSpPr>
        <p:spPr>
          <a:xfrm>
            <a:off x="777240" y="2926080"/>
            <a:ext cx="2194560" cy="868680"/>
          </a:xfrm>
          <a:prstGeom prst="rect">
            <a:avLst/>
          </a:prstGeom>
          <a:noFill/>
          <a:ln/>
        </p:spPr>
        <p:txBody>
          <a:bodyPr wrap="square" lIns="0" tIns="0" rIns="0" bIns="0" rtlCol="0" anchor="t"/>
          <a:lstStyle/>
          <a:p>
            <a:pPr indent="0" marL="0">
              <a:buNone/>
            </a:pPr>
            <a:r>
              <a:rPr lang="en-US" sz="1400" dirty="0">
                <a:solidFill>
                  <a:schemeClr val="tx1"/>
                </a:solidFill>
              </a:rPr>
              <a:t>Strip “_”, convert text to numbers</a:t>
            </a:r>
            <a:endParaRPr lang="en-US" sz="1400" dirty="0"/>
          </a:p>
        </p:txBody>
      </p:sp>
      <p:sp>
        <p:nvSpPr>
          <p:cNvPr id="8" name="arrow 1"/>
          <p:cNvSpPr/>
          <p:nvPr/>
        </p:nvSpPr>
        <p:spPr>
          <a:xfrm>
            <a:off x="3191256" y="2606040"/>
            <a:ext cx="182880" cy="274320"/>
          </a:xfrm>
          <a:prstGeom prst="rightArrow">
            <a:avLst/>
          </a:prstGeom>
          <a:solidFill>
            <a:srgbClr val="94A3B8"/>
          </a:solidFill>
          <a:ln w="12700">
            <a:solidFill>
              <a:srgbClr val="94A3B8"/>
            </a:solidFill>
            <a:prstDash val="solid"/>
          </a:ln>
        </p:spPr>
      </p:sp>
      <p:sp>
        <p:nvSpPr>
          <p:cNvPr id="9" name="step card 2"/>
          <p:cNvSpPr/>
          <p:nvPr/>
        </p:nvSpPr>
        <p:spPr>
          <a:xfrm>
            <a:off x="3383280" y="1600200"/>
            <a:ext cx="2606040" cy="2286000"/>
          </a:xfrm>
          <a:prstGeom prst="roundRect">
            <a:avLst>
              <a:gd name="adj" fmla="val 4800"/>
            </a:avLst>
          </a:prstGeom>
          <a:solidFill>
            <a:srgbClr val="EEF6F8"/>
          </a:solidFill>
          <a:ln w="12700">
            <a:solidFill>
              <a:srgbClr val="EEF6F8"/>
            </a:solidFill>
            <a:prstDash val="solid"/>
          </a:ln>
        </p:spPr>
      </p:sp>
      <p:sp>
        <p:nvSpPr>
          <p:cNvPr id="10" name="step 2 number"/>
          <p:cNvSpPr txBox="1"/>
          <p:nvPr/>
        </p:nvSpPr>
        <p:spPr>
          <a:xfrm>
            <a:off x="3611880" y="1783080"/>
            <a:ext cx="73152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11" name="step 2 head"/>
          <p:cNvSpPr txBox="1"/>
          <p:nvPr/>
        </p:nvSpPr>
        <p:spPr>
          <a:xfrm>
            <a:off x="3611880" y="2514600"/>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Mark bad values</a:t>
            </a:r>
            <a:endParaRPr lang="en-US" sz="1800" dirty="0"/>
          </a:p>
        </p:txBody>
      </p:sp>
      <p:sp>
        <p:nvSpPr>
          <p:cNvPr id="12" name="step 2 body"/>
          <p:cNvSpPr txBox="1"/>
          <p:nvPr/>
        </p:nvSpPr>
        <p:spPr>
          <a:xfrm>
            <a:off x="3611880" y="2926080"/>
            <a:ext cx="2194560" cy="868680"/>
          </a:xfrm>
          <a:prstGeom prst="rect">
            <a:avLst/>
          </a:prstGeom>
          <a:noFill/>
          <a:ln/>
        </p:spPr>
        <p:txBody>
          <a:bodyPr wrap="square" lIns="0" tIns="0" rIns="0" bIns="0" rtlCol="0" anchor="t"/>
          <a:lstStyle/>
          <a:p>
            <a:pPr indent="0" marL="0">
              <a:buNone/>
            </a:pPr>
            <a:r>
              <a:rPr lang="en-US" sz="1400" dirty="0">
                <a:solidFill>
                  <a:schemeClr val="tx1"/>
                </a:solidFill>
              </a:rPr>
              <a:t>Placeholders and impossible values → missing</a:t>
            </a:r>
            <a:endParaRPr lang="en-US" sz="1400" dirty="0"/>
          </a:p>
        </p:txBody>
      </p:sp>
      <p:sp>
        <p:nvSpPr>
          <p:cNvPr id="13" name="arrow 2"/>
          <p:cNvSpPr/>
          <p:nvPr/>
        </p:nvSpPr>
        <p:spPr>
          <a:xfrm>
            <a:off x="6025896" y="2606040"/>
            <a:ext cx="182880" cy="274320"/>
          </a:xfrm>
          <a:prstGeom prst="rightArrow">
            <a:avLst/>
          </a:prstGeom>
          <a:solidFill>
            <a:srgbClr val="94A3B8"/>
          </a:solidFill>
          <a:ln w="12700">
            <a:solidFill>
              <a:srgbClr val="94A3B8"/>
            </a:solidFill>
            <a:prstDash val="solid"/>
          </a:ln>
        </p:spPr>
      </p:sp>
      <p:sp>
        <p:nvSpPr>
          <p:cNvPr id="14" name="step card 3"/>
          <p:cNvSpPr/>
          <p:nvPr/>
        </p:nvSpPr>
        <p:spPr>
          <a:xfrm>
            <a:off x="6217920" y="1600200"/>
            <a:ext cx="2606040" cy="2286000"/>
          </a:xfrm>
          <a:prstGeom prst="roundRect">
            <a:avLst>
              <a:gd name="adj" fmla="val 4800"/>
            </a:avLst>
          </a:prstGeom>
          <a:solidFill>
            <a:srgbClr val="EEF6F8"/>
          </a:solidFill>
          <a:ln w="12700">
            <a:solidFill>
              <a:srgbClr val="EEF6F8"/>
            </a:solidFill>
            <a:prstDash val="solid"/>
          </a:ln>
        </p:spPr>
      </p:sp>
      <p:sp>
        <p:nvSpPr>
          <p:cNvPr id="15" name="step 3 number"/>
          <p:cNvSpPr txBox="1"/>
          <p:nvPr/>
        </p:nvSpPr>
        <p:spPr>
          <a:xfrm>
            <a:off x="6446520" y="1783080"/>
            <a:ext cx="73152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6" name="step 3 head"/>
          <p:cNvSpPr txBox="1"/>
          <p:nvPr/>
        </p:nvSpPr>
        <p:spPr>
          <a:xfrm>
            <a:off x="6446520" y="2514600"/>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Fill per customer</a:t>
            </a:r>
            <a:endParaRPr lang="en-US" sz="1800" dirty="0"/>
          </a:p>
        </p:txBody>
      </p:sp>
      <p:sp>
        <p:nvSpPr>
          <p:cNvPr id="17" name="step 3 body"/>
          <p:cNvSpPr txBox="1"/>
          <p:nvPr/>
        </p:nvSpPr>
        <p:spPr>
          <a:xfrm>
            <a:off x="6446520" y="2926080"/>
            <a:ext cx="2194560" cy="868680"/>
          </a:xfrm>
          <a:prstGeom prst="rect">
            <a:avLst/>
          </a:prstGeom>
          <a:noFill/>
          <a:ln/>
        </p:spPr>
        <p:txBody>
          <a:bodyPr wrap="square" lIns="0" tIns="0" rIns="0" bIns="0" rtlCol="0" anchor="t"/>
          <a:lstStyle/>
          <a:p>
            <a:pPr indent="0" marL="0">
              <a:buNone/>
            </a:pPr>
            <a:r>
              <a:rPr lang="en-US" sz="1400" dirty="0">
                <a:solidFill>
                  <a:schemeClr val="tx1"/>
                </a:solidFill>
              </a:rPr>
              <a:t>Use that customer's own mode / median</a:t>
            </a:r>
            <a:endParaRPr lang="en-US" sz="1400" dirty="0"/>
          </a:p>
        </p:txBody>
      </p:sp>
      <p:sp>
        <p:nvSpPr>
          <p:cNvPr id="18" name="arrow 3"/>
          <p:cNvSpPr/>
          <p:nvPr/>
        </p:nvSpPr>
        <p:spPr>
          <a:xfrm>
            <a:off x="8860536" y="2606040"/>
            <a:ext cx="182880" cy="274320"/>
          </a:xfrm>
          <a:prstGeom prst="rightArrow">
            <a:avLst/>
          </a:prstGeom>
          <a:solidFill>
            <a:srgbClr val="94A3B8"/>
          </a:solidFill>
          <a:ln w="12700">
            <a:solidFill>
              <a:srgbClr val="94A3B8"/>
            </a:solidFill>
            <a:prstDash val="solid"/>
          </a:ln>
        </p:spPr>
      </p:sp>
      <p:sp>
        <p:nvSpPr>
          <p:cNvPr id="19" name="step card 4"/>
          <p:cNvSpPr/>
          <p:nvPr/>
        </p:nvSpPr>
        <p:spPr>
          <a:xfrm>
            <a:off x="9052560" y="1600200"/>
            <a:ext cx="2606040" cy="2286000"/>
          </a:xfrm>
          <a:prstGeom prst="roundRect">
            <a:avLst>
              <a:gd name="adj" fmla="val 4800"/>
            </a:avLst>
          </a:prstGeom>
          <a:solidFill>
            <a:srgbClr val="EEF6F8"/>
          </a:solidFill>
          <a:ln w="12700">
            <a:solidFill>
              <a:srgbClr val="EEF6F8"/>
            </a:solidFill>
            <a:prstDash val="solid"/>
          </a:ln>
        </p:spPr>
      </p:sp>
      <p:sp>
        <p:nvSpPr>
          <p:cNvPr id="20" name="step 4 number"/>
          <p:cNvSpPr txBox="1"/>
          <p:nvPr/>
        </p:nvSpPr>
        <p:spPr>
          <a:xfrm>
            <a:off x="9281160" y="1783080"/>
            <a:ext cx="73152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21" name="step 4 head"/>
          <p:cNvSpPr txBox="1"/>
          <p:nvPr/>
        </p:nvSpPr>
        <p:spPr>
          <a:xfrm>
            <a:off x="9281160" y="2514600"/>
            <a:ext cx="2194560" cy="411480"/>
          </a:xfrm>
          <a:prstGeom prst="rect">
            <a:avLst/>
          </a:prstGeom>
          <a:noFill/>
          <a:ln/>
        </p:spPr>
        <p:txBody>
          <a:bodyPr wrap="square" lIns="0" tIns="0" rIns="0" bIns="0" rtlCol="0" anchor="ctr"/>
          <a:lstStyle/>
          <a:p>
            <a:pPr indent="0" marL="0">
              <a:buNone/>
            </a:pPr>
            <a:r>
              <a:rPr lang="en-US" sz="1800" b="1" dirty="0">
                <a:solidFill>
                  <a:schemeClr val="tx2"/>
                </a:solidFill>
              </a:rPr>
              <a:t>Drop or engineer</a:t>
            </a:r>
            <a:endParaRPr lang="en-US" sz="1800" dirty="0"/>
          </a:p>
        </p:txBody>
      </p:sp>
      <p:sp>
        <p:nvSpPr>
          <p:cNvPr id="22" name="step 4 body"/>
          <p:cNvSpPr txBox="1"/>
          <p:nvPr/>
        </p:nvSpPr>
        <p:spPr>
          <a:xfrm>
            <a:off x="9281160" y="2926080"/>
            <a:ext cx="2194560" cy="868680"/>
          </a:xfrm>
          <a:prstGeom prst="rect">
            <a:avLst/>
          </a:prstGeom>
          <a:noFill/>
          <a:ln/>
        </p:spPr>
        <p:txBody>
          <a:bodyPr wrap="square" lIns="0" tIns="0" rIns="0" bIns="0" rtlCol="0" anchor="t"/>
          <a:lstStyle/>
          <a:p>
            <a:pPr indent="0" marL="0">
              <a:buNone/>
            </a:pPr>
            <a:r>
              <a:rPr lang="en-US" sz="1400" dirty="0">
                <a:solidFill>
                  <a:schemeClr val="tx1"/>
                </a:solidFill>
              </a:rPr>
              <a:t>Drop 4.3% bad loan rows · history text → months</a:t>
            </a:r>
            <a:endParaRPr lang="en-US" sz="1400" dirty="0"/>
          </a:p>
        </p:txBody>
      </p:sp>
      <p:sp>
        <p:nvSpPr>
          <p:cNvPr id="23" name="why per customer"/>
          <p:cNvSpPr txBox="1"/>
          <p:nvPr/>
        </p:nvSpPr>
        <p:spPr>
          <a:xfrm>
            <a:off x="548640" y="4114800"/>
            <a:ext cx="6583680" cy="1097280"/>
          </a:xfrm>
          <a:prstGeom prst="rect">
            <a:avLst/>
          </a:prstGeom>
          <a:noFill/>
          <a:ln/>
        </p:spPr>
        <p:txBody>
          <a:bodyPr wrap="square" lIns="0" tIns="0" rIns="0" bIns="0" rtlCol="0" anchor="t"/>
          <a:lstStyle/>
          <a:p>
            <a:pPr indent="0" marL="0">
              <a:buNone/>
            </a:pPr>
            <a:r>
              <a:rPr lang="en-US" sz="1500" dirty="0">
                <a:solidFill>
                  <a:schemeClr val="tx1"/>
                </a:solidFill>
              </a:rPr>
              <a:t>Why per customer? Each customer appears 8 times, and values like income, age and occupation rarely change month to month — so a customer's own months are the most reliable source for a missing or broken value.</a:t>
            </a:r>
            <a:endParaRPr lang="en-US" sz="1500" dirty="0"/>
          </a:p>
        </p:txBody>
      </p:sp>
      <p:sp>
        <p:nvSpPr>
          <p:cNvPr id="24" name="clean rows value"/>
          <p:cNvSpPr txBox="1"/>
          <p:nvPr/>
        </p:nvSpPr>
        <p:spPr>
          <a:xfrm>
            <a:off x="7589520" y="4023360"/>
            <a:ext cx="20116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95,652</a:t>
            </a:r>
            <a:endParaRPr lang="en-US" sz="4000" dirty="0"/>
          </a:p>
        </p:txBody>
      </p:sp>
      <p:sp>
        <p:nvSpPr>
          <p:cNvPr id="25" name="clean rows label"/>
          <p:cNvSpPr txBox="1"/>
          <p:nvPr/>
        </p:nvSpPr>
        <p:spPr>
          <a:xfrm>
            <a:off x="7589520" y="4709160"/>
            <a:ext cx="2011680" cy="457200"/>
          </a:xfrm>
          <a:prstGeom prst="rect">
            <a:avLst/>
          </a:prstGeom>
          <a:noFill/>
          <a:ln/>
        </p:spPr>
        <p:txBody>
          <a:bodyPr wrap="square" lIns="0" tIns="0" rIns="0" bIns="0" rtlCol="0" anchor="t"/>
          <a:lstStyle/>
          <a:p>
            <a:pPr indent="0" marL="0">
              <a:buNone/>
            </a:pPr>
            <a:r>
              <a:rPr lang="en-US" sz="1300" dirty="0">
                <a:solidFill>
                  <a:srgbClr val="64748B"/>
                </a:solidFill>
              </a:rPr>
              <a:t>clean rows (from 100,000)</a:t>
            </a:r>
            <a:endParaRPr lang="en-US" sz="1300" dirty="0"/>
          </a:p>
        </p:txBody>
      </p:sp>
      <p:sp>
        <p:nvSpPr>
          <p:cNvPr id="26" name="missing value"/>
          <p:cNvSpPr txBox="1"/>
          <p:nvPr/>
        </p:nvSpPr>
        <p:spPr>
          <a:xfrm>
            <a:off x="9692640" y="4023360"/>
            <a:ext cx="1920240" cy="68580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0</a:t>
            </a:r>
            <a:endParaRPr lang="en-US" sz="4000" dirty="0"/>
          </a:p>
        </p:txBody>
      </p:sp>
      <p:sp>
        <p:nvSpPr>
          <p:cNvPr id="27" name="missing label"/>
          <p:cNvSpPr txBox="1"/>
          <p:nvPr/>
        </p:nvSpPr>
        <p:spPr>
          <a:xfrm>
            <a:off x="9692640" y="4709160"/>
            <a:ext cx="1920240" cy="457200"/>
          </a:xfrm>
          <a:prstGeom prst="rect">
            <a:avLst/>
          </a:prstGeom>
          <a:noFill/>
          <a:ln/>
        </p:spPr>
        <p:txBody>
          <a:bodyPr wrap="square" lIns="0" tIns="0" rIns="0" bIns="0" rtlCol="0" anchor="t"/>
          <a:lstStyle/>
          <a:p>
            <a:pPr indent="0" marL="0">
              <a:buNone/>
            </a:pPr>
            <a:r>
              <a:rPr lang="en-US" sz="1300" dirty="0">
                <a:solidFill>
                  <a:srgbClr val="64748B"/>
                </a:solidFill>
              </a:rPr>
              <a:t>missing values · 0 duplicates</a:t>
            </a:r>
            <a:endParaRPr lang="en-US" sz="1300" dirty="0"/>
          </a:p>
        </p:txBody>
      </p:sp>
      <p:sp>
        <p:nvSpPr>
          <p:cNvPr id="28" name="caption"/>
          <p:cNvSpPr txBox="1"/>
          <p:nvPr/>
        </p:nvSpPr>
        <p:spPr>
          <a:xfrm>
            <a:off x="548640" y="5623560"/>
            <a:ext cx="11064240" cy="292608"/>
          </a:xfrm>
          <a:prstGeom prst="rect">
            <a:avLst/>
          </a:prstGeom>
          <a:noFill/>
          <a:ln/>
        </p:spPr>
        <p:txBody>
          <a:bodyPr wrap="square" lIns="0" tIns="0" rIns="0" bIns="0" rtlCol="0" anchor="ctr"/>
          <a:lstStyle/>
          <a:p>
            <a:pPr indent="0" marL="0">
              <a:buNone/>
            </a:pPr>
            <a:r>
              <a:rPr lang="en-US" sz="1100" i="1" dirty="0">
                <a:solidFill>
                  <a:srgbClr val="64748B"/>
                </a:solidFill>
              </a:rPr>
              <a:t>Reusable functions: impute_by_customer() and fix_customer_spikes() — no copy-pasted cleaning code</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UNIVARIATE ANALYSIS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Most customers sit in the middle</a:t>
            </a:r>
            <a:endParaRPr lang="en-US" sz="3200" dirty="0"/>
          </a:p>
        </p:txBody>
      </p:sp>
      <p:sp>
        <p:nvSpPr>
          <p:cNvPr id="4" name="credit score pie frame"/>
          <p:cNvSpPr/>
          <p:nvPr/>
        </p:nvSpPr>
        <p:spPr>
          <a:xfrm>
            <a:off x="658368" y="1527048"/>
            <a:ext cx="5266944" cy="4129024"/>
          </a:xfrm>
          <a:prstGeom prst="roundRect">
            <a:avLst>
              <a:gd name="adj" fmla="val 2215"/>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credit score pie" descr="C:\Users\hp\AppData\Local\Temp\claude\d--Data-science-diploma-Mid-project---Copy-Credit-score-classification---EDA-Project\7e4ae109-7c0a-48d0-b0b3-2d899ccc03f6\scratchpad\deck\img\score_pie.png">    </p:cNvPr>
          <p:cNvPicPr>
            <a:picLocks noChangeAspect="1"/>
          </p:cNvPicPr>
          <p:nvPr/>
        </p:nvPicPr>
        <p:blipFill>
          <a:blip r:embed="rId1"/>
          <a:stretch>
            <a:fillRect/>
          </a:stretch>
        </p:blipFill>
        <p:spPr>
          <a:xfrm>
            <a:off x="731520" y="1600200"/>
            <a:ext cx="5120640" cy="3982720"/>
          </a:xfrm>
          <a:prstGeom prst="rect">
            <a:avLst/>
          </a:prstGeom>
        </p:spPr>
      </p:pic>
      <p:sp>
        <p:nvSpPr>
          <p:cNvPr id="6" name="standard share value"/>
          <p:cNvSpPr txBox="1"/>
          <p:nvPr/>
        </p:nvSpPr>
        <p:spPr>
          <a:xfrm>
            <a:off x="6675120" y="1737360"/>
            <a:ext cx="4572000" cy="685800"/>
          </a:xfrm>
          <a:prstGeom prst="rect">
            <a:avLst/>
          </a:prstGeom>
          <a:noFill/>
          <a:ln/>
        </p:spPr>
        <p:txBody>
          <a:bodyPr wrap="square" lIns="0" tIns="0" rIns="0" bIns="0" rtlCol="0" anchor="ctr"/>
          <a:lstStyle/>
          <a:p>
            <a:pPr indent="0" marL="0">
              <a:buNone/>
            </a:pPr>
            <a:r>
              <a:rPr lang="en-US" sz="4000" b="1" dirty="0">
                <a:solidFill>
                  <a:srgbClr val="B45309"/>
                </a:solidFill>
                <a:latin typeface="Cambria" pitchFamily="34" charset="0"/>
                <a:ea typeface="Cambria" pitchFamily="34" charset="-122"/>
                <a:cs typeface="Cambria" pitchFamily="34" charset="-120"/>
              </a:rPr>
              <a:t>53.2%</a:t>
            </a:r>
            <a:endParaRPr lang="en-US" sz="4000" dirty="0"/>
          </a:p>
        </p:txBody>
      </p:sp>
      <p:sp>
        <p:nvSpPr>
          <p:cNvPr id="7" name="standard share label"/>
          <p:cNvSpPr txBox="1"/>
          <p:nvPr/>
        </p:nvSpPr>
        <p:spPr>
          <a:xfrm>
            <a:off x="6675120" y="2423160"/>
            <a:ext cx="4572000" cy="457200"/>
          </a:xfrm>
          <a:prstGeom prst="rect">
            <a:avLst/>
          </a:prstGeom>
          <a:noFill/>
          <a:ln/>
        </p:spPr>
        <p:txBody>
          <a:bodyPr wrap="square" lIns="0" tIns="0" rIns="0" bIns="0" rtlCol="0" anchor="t"/>
          <a:lstStyle/>
          <a:p>
            <a:pPr indent="0" marL="0">
              <a:buNone/>
            </a:pPr>
            <a:r>
              <a:rPr lang="en-US" sz="1300" dirty="0">
                <a:solidFill>
                  <a:srgbClr val="64748B"/>
                </a:solidFill>
              </a:rPr>
              <a:t>Standard — the majority</a:t>
            </a:r>
            <a:endParaRPr lang="en-US" sz="1300" dirty="0"/>
          </a:p>
        </p:txBody>
      </p:sp>
      <p:sp>
        <p:nvSpPr>
          <p:cNvPr id="8" name="poor share value"/>
          <p:cNvSpPr txBox="1"/>
          <p:nvPr/>
        </p:nvSpPr>
        <p:spPr>
          <a:xfrm>
            <a:off x="6675120" y="3063240"/>
            <a:ext cx="219456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29.1%</a:t>
            </a:r>
            <a:endParaRPr lang="en-US" sz="4000" dirty="0"/>
          </a:p>
        </p:txBody>
      </p:sp>
      <p:sp>
        <p:nvSpPr>
          <p:cNvPr id="9" name="poor share label"/>
          <p:cNvSpPr txBox="1"/>
          <p:nvPr/>
        </p:nvSpPr>
        <p:spPr>
          <a:xfrm>
            <a:off x="6675120" y="3749040"/>
            <a:ext cx="2194560" cy="457200"/>
          </a:xfrm>
          <a:prstGeom prst="rect">
            <a:avLst/>
          </a:prstGeom>
          <a:noFill/>
          <a:ln/>
        </p:spPr>
        <p:txBody>
          <a:bodyPr wrap="square" lIns="0" tIns="0" rIns="0" bIns="0" rtlCol="0" anchor="t"/>
          <a:lstStyle/>
          <a:p>
            <a:pPr indent="0" marL="0">
              <a:buNone/>
            </a:pPr>
            <a:r>
              <a:rPr lang="en-US" sz="1300" dirty="0">
                <a:solidFill>
                  <a:srgbClr val="64748B"/>
                </a:solidFill>
              </a:rPr>
              <a:t>Poor</a:t>
            </a:r>
            <a:endParaRPr lang="en-US" sz="1300" dirty="0"/>
          </a:p>
        </p:txBody>
      </p:sp>
      <p:sp>
        <p:nvSpPr>
          <p:cNvPr id="10" name="good share value"/>
          <p:cNvSpPr txBox="1"/>
          <p:nvPr/>
        </p:nvSpPr>
        <p:spPr>
          <a:xfrm>
            <a:off x="9052560" y="3063240"/>
            <a:ext cx="2560320" cy="68580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17.8%</a:t>
            </a:r>
            <a:endParaRPr lang="en-US" sz="4000" dirty="0"/>
          </a:p>
        </p:txBody>
      </p:sp>
      <p:sp>
        <p:nvSpPr>
          <p:cNvPr id="11" name="good share label"/>
          <p:cNvSpPr txBox="1"/>
          <p:nvPr/>
        </p:nvSpPr>
        <p:spPr>
          <a:xfrm>
            <a:off x="9052560" y="3749040"/>
            <a:ext cx="2560320" cy="457200"/>
          </a:xfrm>
          <a:prstGeom prst="rect">
            <a:avLst/>
          </a:prstGeom>
          <a:noFill/>
          <a:ln/>
        </p:spPr>
        <p:txBody>
          <a:bodyPr wrap="square" lIns="0" tIns="0" rIns="0" bIns="0" rtlCol="0" anchor="t"/>
          <a:lstStyle/>
          <a:p>
            <a:pPr indent="0" marL="0">
              <a:buNone/>
            </a:pPr>
            <a:r>
              <a:rPr lang="en-US" sz="1300" dirty="0">
                <a:solidFill>
                  <a:srgbClr val="64748B"/>
                </a:solidFill>
              </a:rPr>
              <a:t>Good — the rarest group</a:t>
            </a:r>
            <a:endParaRPr lang="en-US" sz="1300" dirty="0"/>
          </a:p>
        </p:txBody>
      </p:sp>
      <p:sp>
        <p:nvSpPr>
          <p:cNvPr id="12" name="imbalance note"/>
          <p:cNvSpPr txBox="1"/>
          <p:nvPr/>
        </p:nvSpPr>
        <p:spPr>
          <a:xfrm>
            <a:off x="6675120" y="4663440"/>
            <a:ext cx="4846320" cy="822960"/>
          </a:xfrm>
          <a:prstGeom prst="rect">
            <a:avLst/>
          </a:prstGeom>
          <a:noFill/>
          <a:ln/>
        </p:spPr>
        <p:txBody>
          <a:bodyPr wrap="square" lIns="0" tIns="0" rIns="0" bIns="0" rtlCol="0" anchor="ctr"/>
          <a:lstStyle/>
          <a:p>
            <a:pPr indent="0" marL="0">
              <a:buNone/>
            </a:pPr>
            <a:r>
              <a:rPr lang="en-US" sz="1500" i="1" dirty="0">
                <a:solidFill>
                  <a:schemeClr val="tx1"/>
                </a:solidFill>
              </a:rPr>
              <a:t>The target is imbalanced: a future model would need to handle the small Good class carefully.</a:t>
            </a:r>
            <a:endParaRPr lang="en-US" sz="1500" dirty="0"/>
          </a:p>
        </p:txBody>
      </p:sp>
      <p:sp>
        <p:nvSpPr>
          <p:cNvPr id="13" name="caption"/>
          <p:cNvSpPr txBox="1"/>
          <p:nvPr/>
        </p:nvSpPr>
        <p:spPr>
          <a:xfrm>
            <a:off x="731520" y="5760720"/>
            <a:ext cx="5120640" cy="292608"/>
          </a:xfrm>
          <a:prstGeom prst="rect">
            <a:avLst/>
          </a:prstGeom>
          <a:noFill/>
          <a:ln/>
        </p:spPr>
        <p:txBody>
          <a:bodyPr wrap="square" lIns="0" tIns="0" rIns="0" bIns="0" rtlCol="0" anchor="ctr"/>
          <a:lstStyle/>
          <a:p>
            <a:pPr indent="0" marL="0">
              <a:buNone/>
            </a:pPr>
            <a:r>
              <a:rPr lang="en-US" sz="1100" i="1" dirty="0">
                <a:solidFill>
                  <a:srgbClr val="64748B"/>
                </a:solidFill>
              </a:rPr>
              <a:t>Notebook chart: px.pie of Credit_Score</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UNIVARIATE ANALYSIS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Income is skewed; credit habits vary widely</a:t>
            </a:r>
            <a:endParaRPr lang="en-US" sz="3200" dirty="0"/>
          </a:p>
        </p:txBody>
      </p:sp>
      <p:sp>
        <p:nvSpPr>
          <p:cNvPr id="4" name="hist_income.png frame"/>
          <p:cNvSpPr/>
          <p:nvPr/>
        </p:nvSpPr>
        <p:spPr>
          <a:xfrm>
            <a:off x="612648" y="1435608"/>
            <a:ext cx="3483864" cy="2118499"/>
          </a:xfrm>
          <a:prstGeom prst="roundRect">
            <a:avLst>
              <a:gd name="adj" fmla="val 4316"/>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hist_income.png" descr="C:\Users\hp\AppData\Local\Temp\claude\d--Data-science-diploma-Mid-project---Copy-Credit-score-classification---EDA-Project\7e4ae109-7c0a-48d0-b0b3-2d899ccc03f6\scratchpad\deck\img\hist_income.png">    </p:cNvPr>
          <p:cNvPicPr>
            <a:picLocks noChangeAspect="1"/>
          </p:cNvPicPr>
          <p:nvPr/>
        </p:nvPicPr>
        <p:blipFill>
          <a:blip r:embed="rId1"/>
          <a:stretch>
            <a:fillRect/>
          </a:stretch>
        </p:blipFill>
        <p:spPr>
          <a:xfrm>
            <a:off x="685800" y="1508760"/>
            <a:ext cx="3337560" cy="1972195"/>
          </a:xfrm>
          <a:prstGeom prst="rect">
            <a:avLst/>
          </a:prstGeom>
        </p:spPr>
      </p:pic>
      <p:sp>
        <p:nvSpPr>
          <p:cNvPr id="6" name="grid caption 1"/>
          <p:cNvSpPr txBox="1"/>
          <p:nvPr/>
        </p:nvSpPr>
        <p:spPr>
          <a:xfrm>
            <a:off x="4206240" y="1737360"/>
            <a:ext cx="1783080" cy="1554480"/>
          </a:xfrm>
          <a:prstGeom prst="rect">
            <a:avLst/>
          </a:prstGeom>
          <a:noFill/>
          <a:ln/>
        </p:spPr>
        <p:txBody>
          <a:bodyPr wrap="square" lIns="0" tIns="0" rIns="0" bIns="0" rtlCol="0" anchor="t"/>
          <a:lstStyle/>
          <a:p>
            <a:pPr indent="0" marL="0">
              <a:buNone/>
            </a:pPr>
            <a:r>
              <a:rPr lang="en-US" sz="1300" dirty="0">
                <a:solidFill>
                  <a:schemeClr val="tx1"/>
                </a:solidFill>
              </a:rPr>
              <a:t>Annual income — right-skewed: most earn little, a few earn a lot</a:t>
            </a:r>
            <a:endParaRPr lang="en-US" sz="1300" dirty="0"/>
          </a:p>
        </p:txBody>
      </p:sp>
      <p:sp>
        <p:nvSpPr>
          <p:cNvPr id="7" name="hist_history.png frame"/>
          <p:cNvSpPr/>
          <p:nvPr/>
        </p:nvSpPr>
        <p:spPr>
          <a:xfrm>
            <a:off x="6190488" y="1435608"/>
            <a:ext cx="3483864" cy="2118499"/>
          </a:xfrm>
          <a:prstGeom prst="roundRect">
            <a:avLst>
              <a:gd name="adj" fmla="val 4316"/>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8" name="hist_history.png" descr="C:\Users\hp\AppData\Local\Temp\claude\d--Data-science-diploma-Mid-project---Copy-Credit-score-classification---EDA-Project\7e4ae109-7c0a-48d0-b0b3-2d899ccc03f6\scratchpad\deck\img\hist_history.png">    </p:cNvPr>
          <p:cNvPicPr>
            <a:picLocks noChangeAspect="1"/>
          </p:cNvPicPr>
          <p:nvPr/>
        </p:nvPicPr>
        <p:blipFill>
          <a:blip r:embed="rId2"/>
          <a:stretch>
            <a:fillRect/>
          </a:stretch>
        </p:blipFill>
        <p:spPr>
          <a:xfrm>
            <a:off x="6263640" y="1508760"/>
            <a:ext cx="3337560" cy="1972195"/>
          </a:xfrm>
          <a:prstGeom prst="rect">
            <a:avLst/>
          </a:prstGeom>
        </p:spPr>
      </p:pic>
      <p:sp>
        <p:nvSpPr>
          <p:cNvPr id="9" name="grid caption 2"/>
          <p:cNvSpPr txBox="1"/>
          <p:nvPr/>
        </p:nvSpPr>
        <p:spPr>
          <a:xfrm>
            <a:off x="9784080" y="1737360"/>
            <a:ext cx="1783080" cy="1554480"/>
          </a:xfrm>
          <a:prstGeom prst="rect">
            <a:avLst/>
          </a:prstGeom>
          <a:noFill/>
          <a:ln/>
        </p:spPr>
        <p:txBody>
          <a:bodyPr wrap="square" lIns="0" tIns="0" rIns="0" bIns="0" rtlCol="0" anchor="t"/>
          <a:lstStyle/>
          <a:p>
            <a:pPr indent="0" marL="0">
              <a:buNone/>
            </a:pPr>
            <a:r>
              <a:rPr lang="en-US" sz="1300" dirty="0">
                <a:solidFill>
                  <a:schemeClr val="tx1"/>
                </a:solidFill>
              </a:rPr>
              <a:t>Credit history age (months) — spread evenly from new to 33 years</a:t>
            </a:r>
            <a:endParaRPr lang="en-US" sz="1300" dirty="0"/>
          </a:p>
        </p:txBody>
      </p:sp>
      <p:sp>
        <p:nvSpPr>
          <p:cNvPr id="10" name="bar_credit_mix.png frame"/>
          <p:cNvSpPr/>
          <p:nvPr/>
        </p:nvSpPr>
        <p:spPr>
          <a:xfrm>
            <a:off x="612648" y="3904488"/>
            <a:ext cx="3483864" cy="2118499"/>
          </a:xfrm>
          <a:prstGeom prst="roundRect">
            <a:avLst>
              <a:gd name="adj" fmla="val 4316"/>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11" name="bar_credit_mix.png" descr="C:\Users\hp\AppData\Local\Temp\claude\d--Data-science-diploma-Mid-project---Copy-Credit-score-classification---EDA-Project\7e4ae109-7c0a-48d0-b0b3-2d899ccc03f6\scratchpad\deck\img\bar_credit_mix.png">    </p:cNvPr>
          <p:cNvPicPr>
            <a:picLocks noChangeAspect="1"/>
          </p:cNvPicPr>
          <p:nvPr/>
        </p:nvPicPr>
        <p:blipFill>
          <a:blip r:embed="rId3"/>
          <a:stretch>
            <a:fillRect/>
          </a:stretch>
        </p:blipFill>
        <p:spPr>
          <a:xfrm>
            <a:off x="685800" y="3977640"/>
            <a:ext cx="3337560" cy="1972195"/>
          </a:xfrm>
          <a:prstGeom prst="rect">
            <a:avLst/>
          </a:prstGeom>
        </p:spPr>
      </p:pic>
      <p:sp>
        <p:nvSpPr>
          <p:cNvPr id="12" name="grid caption 3"/>
          <p:cNvSpPr txBox="1"/>
          <p:nvPr/>
        </p:nvSpPr>
        <p:spPr>
          <a:xfrm>
            <a:off x="4206240" y="4206240"/>
            <a:ext cx="1783080" cy="1554480"/>
          </a:xfrm>
          <a:prstGeom prst="rect">
            <a:avLst/>
          </a:prstGeom>
          <a:noFill/>
          <a:ln/>
        </p:spPr>
        <p:txBody>
          <a:bodyPr wrap="square" lIns="0" tIns="0" rIns="0" bIns="0" rtlCol="0" anchor="t"/>
          <a:lstStyle/>
          <a:p>
            <a:pPr indent="0" marL="0">
              <a:buNone/>
            </a:pPr>
            <a:r>
              <a:rPr lang="en-US" sz="1300" dirty="0">
                <a:solidFill>
                  <a:schemeClr val="tx1"/>
                </a:solidFill>
              </a:rPr>
              <a:t>Credit mix — Standard is the most common</a:t>
            </a:r>
            <a:endParaRPr lang="en-US" sz="1300" dirty="0"/>
          </a:p>
        </p:txBody>
      </p:sp>
      <p:sp>
        <p:nvSpPr>
          <p:cNvPr id="13" name="bar_min_amount.png frame"/>
          <p:cNvSpPr/>
          <p:nvPr/>
        </p:nvSpPr>
        <p:spPr>
          <a:xfrm>
            <a:off x="6190488" y="3904488"/>
            <a:ext cx="3483864" cy="2118499"/>
          </a:xfrm>
          <a:prstGeom prst="roundRect">
            <a:avLst>
              <a:gd name="adj" fmla="val 4316"/>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14" name="bar_min_amount.png" descr="C:\Users\hp\AppData\Local\Temp\claude\d--Data-science-diploma-Mid-project---Copy-Credit-score-classification---EDA-Project\7e4ae109-7c0a-48d0-b0b3-2d899ccc03f6\scratchpad\deck\img\bar_min_amount.png">    </p:cNvPr>
          <p:cNvPicPr>
            <a:picLocks noChangeAspect="1"/>
          </p:cNvPicPr>
          <p:nvPr/>
        </p:nvPicPr>
        <p:blipFill>
          <a:blip r:embed="rId4"/>
          <a:stretch>
            <a:fillRect/>
          </a:stretch>
        </p:blipFill>
        <p:spPr>
          <a:xfrm>
            <a:off x="6263640" y="3977640"/>
            <a:ext cx="3337560" cy="1972195"/>
          </a:xfrm>
          <a:prstGeom prst="rect">
            <a:avLst/>
          </a:prstGeom>
        </p:spPr>
      </p:pic>
      <p:sp>
        <p:nvSpPr>
          <p:cNvPr id="15" name="grid caption 4"/>
          <p:cNvSpPr txBox="1"/>
          <p:nvPr/>
        </p:nvSpPr>
        <p:spPr>
          <a:xfrm>
            <a:off x="9784080" y="4206240"/>
            <a:ext cx="1783080" cy="1554480"/>
          </a:xfrm>
          <a:prstGeom prst="rect">
            <a:avLst/>
          </a:prstGeom>
          <a:noFill/>
          <a:ln/>
        </p:spPr>
        <p:txBody>
          <a:bodyPr wrap="square" lIns="0" tIns="0" rIns="0" bIns="0" rtlCol="0" anchor="t"/>
          <a:lstStyle/>
          <a:p>
            <a:pPr indent="0" marL="0">
              <a:buNone/>
            </a:pPr>
            <a:r>
              <a:rPr lang="en-US" sz="1300" dirty="0">
                <a:solidFill>
                  <a:schemeClr val="tx1"/>
                </a:solidFill>
              </a:rPr>
              <a:t>Paid only the minimum — the majority do</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BIVARIATE ANALYSIS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Risk signals move together</a:t>
            </a:r>
            <a:endParaRPr lang="en-US" sz="3200" dirty="0"/>
          </a:p>
        </p:txBody>
      </p:sp>
      <p:sp>
        <p:nvSpPr>
          <p:cNvPr id="4" name="correlation heatmap frame"/>
          <p:cNvSpPr/>
          <p:nvPr/>
        </p:nvSpPr>
        <p:spPr>
          <a:xfrm>
            <a:off x="612648" y="1389888"/>
            <a:ext cx="6181344" cy="4773168"/>
          </a:xfrm>
          <a:prstGeom prst="roundRect">
            <a:avLst>
              <a:gd name="adj" fmla="val 1916"/>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correlation heatmap" descr="C:\Users\hp\AppData\Local\Temp\claude\d--Data-science-diploma-Mid-project---Copy-Credit-score-classification---EDA-Project\7e4ae109-7c0a-48d0-b0b3-2d899ccc03f6\scratchpad\deck\img\corr_heatmap.png">    </p:cNvPr>
          <p:cNvPicPr>
            <a:picLocks noChangeAspect="1"/>
          </p:cNvPicPr>
          <p:nvPr/>
        </p:nvPicPr>
        <p:blipFill>
          <a:blip r:embed="rId1"/>
          <a:stretch>
            <a:fillRect/>
          </a:stretch>
        </p:blipFill>
        <p:spPr>
          <a:xfrm>
            <a:off x="685800" y="1463040"/>
            <a:ext cx="6035040" cy="4626864"/>
          </a:xfrm>
          <a:prstGeom prst="rect">
            <a:avLst/>
          </a:prstGeom>
        </p:spPr>
      </p:pic>
      <p:sp>
        <p:nvSpPr>
          <p:cNvPr id="6" name="corr takeaways card"/>
          <p:cNvSpPr/>
          <p:nvPr/>
        </p:nvSpPr>
        <p:spPr>
          <a:xfrm>
            <a:off x="7132320" y="1463040"/>
            <a:ext cx="4480560" cy="4526280"/>
          </a:xfrm>
          <a:prstGeom prst="roundRect">
            <a:avLst>
              <a:gd name="adj" fmla="val 2449"/>
            </a:avLst>
          </a:prstGeom>
          <a:solidFill>
            <a:srgbClr val="EEF6F8"/>
          </a:solidFill>
          <a:ln w="12700">
            <a:solidFill>
              <a:srgbClr val="EEF6F8"/>
            </a:solidFill>
            <a:prstDash val="solid"/>
          </a:ln>
        </p:spPr>
      </p:sp>
      <p:sp>
        <p:nvSpPr>
          <p:cNvPr id="7" name="corr takeaways"/>
          <p:cNvSpPr txBox="1"/>
          <p:nvPr/>
        </p:nvSpPr>
        <p:spPr>
          <a:xfrm>
            <a:off x="7406640" y="1737360"/>
            <a:ext cx="3977640" cy="4114800"/>
          </a:xfrm>
          <a:prstGeom prst="rect">
            <a:avLst/>
          </a:prstGeom>
          <a:noFill/>
          <a:ln/>
        </p:spPr>
        <p:txBody>
          <a:bodyPr wrap="square" lIns="0" tIns="0" rIns="0" bIns="0" rtlCol="0" anchor="t"/>
          <a:lstStyle/>
          <a:p>
            <a:pPr marL="190500" indent="-190500">
              <a:spcAft>
                <a:spcPts val="600"/>
              </a:spcAft>
              <a:buSzPct val="100000"/>
              <a:buChar char="•"/>
            </a:pPr>
            <a:r>
              <a:rPr lang="en-US" sz="1500" b="1" dirty="0">
                <a:solidFill>
                  <a:schemeClr val="tx1"/>
                </a:solidFill>
              </a:rPr>
              <a:t>Same information: </a:t>
            </a:r>
            <a:pPr indent="0" marL="0">
              <a:spcAft>
                <a:spcPts val="600"/>
              </a:spcAft>
              <a:buNone/>
            </a:pPr>
            <a:r>
              <a:rPr lang="en-US" sz="1500" dirty="0">
                <a:solidFill>
                  <a:schemeClr val="tx1"/>
                </a:solidFill>
              </a:rPr>
              <a:t>Annual income and monthly salary correlate at 1.0.</a:t>
            </a:r>
            <a:endParaRPr lang="en-US" sz="1500" dirty="0"/>
          </a:p>
          <a:p>
            <a:pPr marL="190500" indent="-190500">
              <a:spcAft>
                <a:spcPts val="600"/>
              </a:spcAft>
              <a:buSzPct val="100000"/>
              <a:buChar char="•"/>
            </a:pPr>
            <a:r>
              <a:rPr lang="en-US" sz="1500" b="1" dirty="0">
                <a:solidFill>
                  <a:schemeClr val="tx1"/>
                </a:solidFill>
              </a:rPr>
              <a:t>Risk cluster: </a:t>
            </a:r>
            <a:pPr indent="0" marL="0">
              <a:spcAft>
                <a:spcPts val="600"/>
              </a:spcAft>
              <a:buNone/>
            </a:pPr>
            <a:r>
              <a:rPr lang="en-US" sz="1500" dirty="0">
                <a:solidFill>
                  <a:schemeClr val="tx1"/>
                </a:solidFill>
              </a:rPr>
              <a:t>loans, interest rate, delays, inquiries and debt all rise together (0.5–0.64).</a:t>
            </a:r>
            <a:endParaRPr lang="en-US" sz="1500" dirty="0"/>
          </a:p>
          <a:p>
            <a:pPr marL="190500" indent="-190500">
              <a:spcAft>
                <a:spcPts val="600"/>
              </a:spcAft>
              <a:buSzPct val="100000"/>
              <a:buChar char="•"/>
            </a:pPr>
            <a:r>
              <a:rPr lang="en-US" sz="1500" b="1" dirty="0">
                <a:solidFill>
                  <a:schemeClr val="tx1"/>
                </a:solidFill>
              </a:rPr>
              <a:t>Opposite direction: </a:t>
            </a:r>
            <a:pPr indent="0" marL="0">
              <a:spcAft>
                <a:spcPts val="600"/>
              </a:spcAft>
              <a:buNone/>
            </a:pPr>
            <a:r>
              <a:rPr lang="en-US" sz="1500" dirty="0">
                <a:solidFill>
                  <a:schemeClr val="tx1"/>
                </a:solidFill>
              </a:rPr>
              <a:t>credit history age falls as debt (−0.63) and loans (−0.61) rise.</a:t>
            </a:r>
            <a:endParaRPr lang="en-US" sz="1500" dirty="0"/>
          </a:p>
          <a:p>
            <a:pPr marL="190500" indent="-190500">
              <a:spcAft>
                <a:spcPts val="600"/>
              </a:spcAft>
              <a:buSzPct val="100000"/>
              <a:buChar char="•"/>
            </a:pPr>
            <a:r>
              <a:rPr lang="en-US" sz="1500" b="1" dirty="0">
                <a:solidFill>
                  <a:schemeClr val="tx1"/>
                </a:solidFill>
              </a:rPr>
              <a:t>No link: </a:t>
            </a:r>
            <a:pPr indent="0" marL="0">
              <a:spcAft>
                <a:spcPts val="600"/>
              </a:spcAft>
              <a:buNone/>
            </a:pPr>
            <a:r>
              <a:rPr lang="en-US" sz="1500" dirty="0">
                <a:solidFill>
                  <a:schemeClr val="tx1"/>
                </a:solidFill>
              </a:rPr>
              <a:t>credit utilization is almost unrelated to everything else.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QUESTION 1  ·  DOES THE OCCUPATION OF A CUSTOMER AFFECT THE CREDIT SCORE?</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Occupation barely changes the credit score</a:t>
            </a:r>
            <a:endParaRPr lang="en-US" sz="3200" dirty="0"/>
          </a:p>
        </p:txBody>
      </p:sp>
      <p:sp>
        <p:nvSpPr>
          <p:cNvPr id="4" name="Q1 occupation mix frame"/>
          <p:cNvSpPr/>
          <p:nvPr/>
        </p:nvSpPr>
        <p:spPr>
          <a:xfrm>
            <a:off x="612648" y="1435608"/>
            <a:ext cx="7095744" cy="4315968"/>
          </a:xfrm>
          <a:prstGeom prst="roundRect">
            <a:avLst>
              <a:gd name="adj" fmla="val 2119"/>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Q1 occupation mix" descr="C:\Users\hp\AppData\Local\Temp\claude\d--Data-science-diploma-Mid-project---Copy-Credit-score-classification---EDA-Project\7e4ae109-7c0a-48d0-b0b3-2d899ccc03f6\scratchpad\deck\img\q1_occupation_mix.png">    </p:cNvPr>
          <p:cNvPicPr>
            <a:picLocks noChangeAspect="1"/>
          </p:cNvPicPr>
          <p:nvPr/>
        </p:nvPicPr>
        <p:blipFill>
          <a:blip r:embed="rId1"/>
          <a:stretch>
            <a:fillRect/>
          </a:stretch>
        </p:blipFill>
        <p:spPr>
          <a:xfrm>
            <a:off x="685800" y="1508760"/>
            <a:ext cx="6949440" cy="4169664"/>
          </a:xfrm>
          <a:prstGeom prst="rect">
            <a:avLst/>
          </a:prstGeom>
        </p:spPr>
      </p:pic>
      <p:sp>
        <p:nvSpPr>
          <p:cNvPr id="6" name="caption"/>
          <p:cNvSpPr txBox="1"/>
          <p:nvPr/>
        </p:nvSpPr>
        <p:spPr>
          <a:xfrm>
            <a:off x="685800" y="5806440"/>
            <a:ext cx="6949440" cy="292608"/>
          </a:xfrm>
          <a:prstGeom prst="rect">
            <a:avLst/>
          </a:prstGeom>
          <a:noFill/>
          <a:ln/>
        </p:spPr>
        <p:txBody>
          <a:bodyPr wrap="square" lIns="0" tIns="0" rIns="0" bIns="0" rtlCol="0" anchor="ctr"/>
          <a:lstStyle/>
          <a:p>
            <a:pPr indent="0" marL="0">
              <a:buNone/>
            </a:pPr>
            <a:r>
              <a:rPr lang="en-US" sz="1100" i="1" dirty="0">
                <a:solidFill>
                  <a:srgbClr val="64748B"/>
                </a:solidFill>
              </a:rPr>
              <a:t>Credit score mix per occupation, sorted by % Poor</a:t>
            </a:r>
            <a:endParaRPr lang="en-US" sz="1100" dirty="0"/>
          </a:p>
        </p:txBody>
      </p:sp>
      <p:sp>
        <p:nvSpPr>
          <p:cNvPr id="7" name="q1 low value"/>
          <p:cNvSpPr txBox="1"/>
          <p:nvPr/>
        </p:nvSpPr>
        <p:spPr>
          <a:xfrm>
            <a:off x="8138160" y="1600200"/>
            <a:ext cx="3474720" cy="68580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26.2%</a:t>
            </a:r>
            <a:endParaRPr lang="en-US" sz="4000" dirty="0"/>
          </a:p>
        </p:txBody>
      </p:sp>
      <p:sp>
        <p:nvSpPr>
          <p:cNvPr id="8" name="q1 low label"/>
          <p:cNvSpPr txBox="1"/>
          <p:nvPr/>
        </p:nvSpPr>
        <p:spPr>
          <a:xfrm>
            <a:off x="8138160" y="2286000"/>
            <a:ext cx="3474720" cy="457200"/>
          </a:xfrm>
          <a:prstGeom prst="rect">
            <a:avLst/>
          </a:prstGeom>
          <a:noFill/>
          <a:ln/>
        </p:spPr>
        <p:txBody>
          <a:bodyPr wrap="square" lIns="0" tIns="0" rIns="0" bIns="0" rtlCol="0" anchor="t"/>
          <a:lstStyle/>
          <a:p>
            <a:pPr indent="0" marL="0">
              <a:buNone/>
            </a:pPr>
            <a:r>
              <a:rPr lang="en-US" sz="1300" dirty="0">
                <a:solidFill>
                  <a:srgbClr val="64748B"/>
                </a:solidFill>
              </a:rPr>
              <a:t>lowest Poor share (Media Manager)</a:t>
            </a:r>
            <a:endParaRPr lang="en-US" sz="1300" dirty="0"/>
          </a:p>
        </p:txBody>
      </p:sp>
      <p:sp>
        <p:nvSpPr>
          <p:cNvPr id="9" name="q1 high value"/>
          <p:cNvSpPr txBox="1"/>
          <p:nvPr/>
        </p:nvSpPr>
        <p:spPr>
          <a:xfrm>
            <a:off x="8138160" y="2880360"/>
            <a:ext cx="347472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30.7%</a:t>
            </a:r>
            <a:endParaRPr lang="en-US" sz="4000" dirty="0"/>
          </a:p>
        </p:txBody>
      </p:sp>
      <p:sp>
        <p:nvSpPr>
          <p:cNvPr id="10" name="q1 high label"/>
          <p:cNvSpPr txBox="1"/>
          <p:nvPr/>
        </p:nvSpPr>
        <p:spPr>
          <a:xfrm>
            <a:off x="8138160" y="3566160"/>
            <a:ext cx="3474720" cy="457200"/>
          </a:xfrm>
          <a:prstGeom prst="rect">
            <a:avLst/>
          </a:prstGeom>
          <a:noFill/>
          <a:ln/>
        </p:spPr>
        <p:txBody>
          <a:bodyPr wrap="square" lIns="0" tIns="0" rIns="0" bIns="0" rtlCol="0" anchor="t"/>
          <a:lstStyle/>
          <a:p>
            <a:pPr indent="0" marL="0">
              <a:buNone/>
            </a:pPr>
            <a:r>
              <a:rPr lang="en-US" sz="1300" dirty="0">
                <a:solidFill>
                  <a:srgbClr val="64748B"/>
                </a:solidFill>
              </a:rPr>
              <a:t>highest Poor share (Entrepreneur, Scientist)</a:t>
            </a:r>
            <a:endParaRPr lang="en-US" sz="1300" dirty="0"/>
          </a:p>
        </p:txBody>
      </p:sp>
      <p:sp>
        <p:nvSpPr>
          <p:cNvPr id="11" name="q1 answer card"/>
          <p:cNvSpPr/>
          <p:nvPr/>
        </p:nvSpPr>
        <p:spPr>
          <a:xfrm>
            <a:off x="8138160" y="4251960"/>
            <a:ext cx="3474720" cy="1463040"/>
          </a:xfrm>
          <a:prstGeom prst="roundRect">
            <a:avLst>
              <a:gd name="adj" fmla="val 7500"/>
            </a:avLst>
          </a:prstGeom>
          <a:solidFill>
            <a:srgbClr val="EEF6F8"/>
          </a:solidFill>
          <a:ln w="12700">
            <a:solidFill>
              <a:srgbClr val="EEF6F8"/>
            </a:solidFill>
            <a:prstDash val="solid"/>
          </a:ln>
        </p:spPr>
      </p:sp>
      <p:sp>
        <p:nvSpPr>
          <p:cNvPr id="12" name="q1 answer"/>
          <p:cNvSpPr txBox="1"/>
          <p:nvPr/>
        </p:nvSpPr>
        <p:spPr>
          <a:xfrm>
            <a:off x="8321040" y="4343400"/>
            <a:ext cx="3154680" cy="1280160"/>
          </a:xfrm>
          <a:prstGeom prst="rect">
            <a:avLst/>
          </a:prstGeom>
          <a:noFill/>
          <a:ln/>
        </p:spPr>
        <p:txBody>
          <a:bodyPr wrap="square" lIns="0" tIns="0" rIns="0" bIns="0" rtlCol="0" anchor="ctr"/>
          <a:lstStyle/>
          <a:p>
            <a:pPr indent="0" marL="0">
              <a:buNone/>
            </a:pPr>
            <a:r>
              <a:rPr lang="en-US" sz="1400" b="1" dirty="0">
                <a:solidFill>
                  <a:schemeClr val="tx1"/>
                </a:solidFill>
              </a:rPr>
              <a:t>Answer: </a:t>
            </a:r>
            <a:pPr indent="0" marL="0">
              <a:buNone/>
            </a:pPr>
            <a:r>
              <a:rPr lang="en-US" sz="1400" dirty="0">
                <a:solidFill>
                  <a:schemeClr val="tx1"/>
                </a:solidFill>
              </a:rPr>
              <a:t>only a 4.5-point gap. Median income is also similar for every job (≈ $35K–$39K). Occupation is a very weak signal.</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QUESTION 2  ·  DO CUSTOMERS WITH HIGHER INCOME GET BETTER CREDIT SCORES?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Higher income helps, but does not decide it</a:t>
            </a:r>
            <a:endParaRPr lang="en-US" sz="3200" dirty="0"/>
          </a:p>
        </p:txBody>
      </p:sp>
      <p:sp>
        <p:nvSpPr>
          <p:cNvPr id="4" name="Q2 income box frame"/>
          <p:cNvSpPr/>
          <p:nvPr/>
        </p:nvSpPr>
        <p:spPr>
          <a:xfrm>
            <a:off x="612648" y="1435608"/>
            <a:ext cx="5404104" cy="3731168"/>
          </a:xfrm>
          <a:prstGeom prst="roundRect">
            <a:avLst>
              <a:gd name="adj" fmla="val 2451"/>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Q2 income box" descr="C:\Users\hp\AppData\Local\Temp\claude\d--Data-science-diploma-Mid-project---Copy-Credit-score-classification---EDA-Project\7e4ae109-7c0a-48d0-b0b3-2d899ccc03f6\scratchpad\deck\img\q2_income_box.png">    </p:cNvPr>
          <p:cNvPicPr>
            <a:picLocks noChangeAspect="1"/>
          </p:cNvPicPr>
          <p:nvPr/>
        </p:nvPicPr>
        <p:blipFill>
          <a:blip r:embed="rId1"/>
          <a:stretch>
            <a:fillRect/>
          </a:stretch>
        </p:blipFill>
        <p:spPr>
          <a:xfrm>
            <a:off x="685800" y="1508760"/>
            <a:ext cx="5257800" cy="3584864"/>
          </a:xfrm>
          <a:prstGeom prst="rect">
            <a:avLst/>
          </a:prstGeom>
        </p:spPr>
      </p:pic>
      <p:sp>
        <p:nvSpPr>
          <p:cNvPr id="6" name="Q2 income groups frame"/>
          <p:cNvSpPr/>
          <p:nvPr/>
        </p:nvSpPr>
        <p:spPr>
          <a:xfrm>
            <a:off x="6190488" y="1435608"/>
            <a:ext cx="5404104" cy="3731168"/>
          </a:xfrm>
          <a:prstGeom prst="roundRect">
            <a:avLst>
              <a:gd name="adj" fmla="val 2451"/>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7" name="Q2 income groups" descr="C:\Users\hp\AppData\Local\Temp\claude\d--Data-science-diploma-Mid-project---Copy-Credit-score-classification---EDA-Project\7e4ae109-7c0a-48d0-b0b3-2d899ccc03f6\scratchpad\deck\img\q2_income_groups.png">    </p:cNvPr>
          <p:cNvPicPr>
            <a:picLocks noChangeAspect="1"/>
          </p:cNvPicPr>
          <p:nvPr/>
        </p:nvPicPr>
        <p:blipFill>
          <a:blip r:embed="rId2"/>
          <a:stretch>
            <a:fillRect/>
          </a:stretch>
        </p:blipFill>
        <p:spPr>
          <a:xfrm>
            <a:off x="6263640" y="1508760"/>
            <a:ext cx="5257800" cy="3584864"/>
          </a:xfrm>
          <a:prstGeom prst="rect">
            <a:avLst/>
          </a:prstGeom>
        </p:spPr>
      </p:pic>
      <p:sp>
        <p:nvSpPr>
          <p:cNvPr id="8" name="answer card"/>
          <p:cNvSpPr/>
          <p:nvPr/>
        </p:nvSpPr>
        <p:spPr>
          <a:xfrm>
            <a:off x="548640" y="5257800"/>
            <a:ext cx="11064240" cy="1005840"/>
          </a:xfrm>
          <a:prstGeom prst="roundRect">
            <a:avLst>
              <a:gd name="adj" fmla="val 10909"/>
            </a:avLst>
          </a:prstGeom>
          <a:solidFill>
            <a:srgbClr val="EEF6F8"/>
          </a:solidFill>
          <a:ln w="12700">
            <a:solidFill>
              <a:srgbClr val="EEF6F8"/>
            </a:solidFill>
            <a:prstDash val="solid"/>
          </a:ln>
        </p:spPr>
      </p:sp>
      <p:sp>
        <p:nvSpPr>
          <p:cNvPr id="9" name="answer label"/>
          <p:cNvSpPr txBox="1"/>
          <p:nvPr/>
        </p:nvSpPr>
        <p:spPr>
          <a:xfrm>
            <a:off x="777240" y="5367528"/>
            <a:ext cx="1280160" cy="320040"/>
          </a:xfrm>
          <a:prstGeom prst="rect">
            <a:avLst/>
          </a:prstGeom>
          <a:noFill/>
          <a:ln/>
        </p:spPr>
        <p:txBody>
          <a:bodyPr wrap="square" lIns="0" tIns="0" rIns="0" bIns="0" rtlCol="0" anchor="ctr"/>
          <a:lstStyle/>
          <a:p>
            <a:pPr indent="0" marL="0">
              <a:buNone/>
            </a:pPr>
            <a:r>
              <a:rPr lang="en-US" sz="1400" b="1" dirty="0">
                <a:solidFill>
                  <a:schemeClr val="accent1"/>
                </a:solidFill>
              </a:rPr>
              <a:t>Answer</a:t>
            </a:r>
            <a:endParaRPr lang="en-US" sz="1400" dirty="0"/>
          </a:p>
        </p:txBody>
      </p:sp>
      <p:sp>
        <p:nvSpPr>
          <p:cNvPr id="10" name="answer"/>
          <p:cNvSpPr txBox="1"/>
          <p:nvPr/>
        </p:nvSpPr>
        <p:spPr>
          <a:xfrm>
            <a:off x="2011680" y="5385816"/>
            <a:ext cx="9418320" cy="8229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Median income: </a:t>
            </a:r>
            <a:pPr indent="0" marL="0">
              <a:spcAft>
                <a:spcPts val="600"/>
              </a:spcAft>
              <a:buNone/>
            </a:pPr>
            <a:r>
              <a:rPr lang="en-US" sz="1400" b="1" dirty="0">
                <a:solidFill>
                  <a:schemeClr val="tx1"/>
                </a:solidFill>
              </a:rPr>
              <a:t>$32K Poor · $37K Standard · $45K Good.</a:t>
            </a:r>
            <a:endParaRPr lang="en-US" sz="1400" dirty="0"/>
          </a:p>
          <a:p>
            <a:pPr marL="190500" indent="-190500">
              <a:spcAft>
                <a:spcPts val="600"/>
              </a:spcAft>
              <a:buSzPct val="100000"/>
              <a:buChar char="•"/>
            </a:pPr>
            <a:r>
              <a:rPr lang="en-US" sz="1400" dirty="0">
                <a:solidFill>
                  <a:schemeClr val="tx1"/>
                </a:solidFill>
              </a:rPr>
              <a:t>Lowest income quarter: 41.5% Poor, 9.2% Good — highest quarter: 17.0% Poor, 27.8% Good (but not a smooth trend).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QUESTION 3  ·  HOW DOES LATE PAYMENT BEHAVIOUR RELATE TO THE CREDIT SCORE?</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Paying late or only the minimum signals Poor</a:t>
            </a:r>
            <a:endParaRPr lang="en-US" sz="3200" dirty="0"/>
          </a:p>
        </p:txBody>
      </p:sp>
      <p:sp>
        <p:nvSpPr>
          <p:cNvPr id="4" name="Q3 delay box frame"/>
          <p:cNvSpPr/>
          <p:nvPr/>
        </p:nvSpPr>
        <p:spPr>
          <a:xfrm>
            <a:off x="612648" y="1435608"/>
            <a:ext cx="5404104" cy="3731168"/>
          </a:xfrm>
          <a:prstGeom prst="roundRect">
            <a:avLst>
              <a:gd name="adj" fmla="val 2451"/>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Q3 delay box" descr="C:\Users\hp\AppData\Local\Temp\claude\d--Data-science-diploma-Mid-project---Copy-Credit-score-classification---EDA-Project\7e4ae109-7c0a-48d0-b0b3-2d899ccc03f6\scratchpad\deck\img\q3_delay_box.png">    </p:cNvPr>
          <p:cNvPicPr>
            <a:picLocks noChangeAspect="1"/>
          </p:cNvPicPr>
          <p:nvPr/>
        </p:nvPicPr>
        <p:blipFill>
          <a:blip r:embed="rId1"/>
          <a:stretch>
            <a:fillRect/>
          </a:stretch>
        </p:blipFill>
        <p:spPr>
          <a:xfrm>
            <a:off x="685800" y="1508760"/>
            <a:ext cx="5257800" cy="3584864"/>
          </a:xfrm>
          <a:prstGeom prst="rect">
            <a:avLst/>
          </a:prstGeom>
        </p:spPr>
      </p:pic>
      <p:sp>
        <p:nvSpPr>
          <p:cNvPr id="6" name="Q3 minimum payment frame"/>
          <p:cNvSpPr/>
          <p:nvPr/>
        </p:nvSpPr>
        <p:spPr>
          <a:xfrm>
            <a:off x="6190488" y="1435608"/>
            <a:ext cx="5404104" cy="3731168"/>
          </a:xfrm>
          <a:prstGeom prst="roundRect">
            <a:avLst>
              <a:gd name="adj" fmla="val 2451"/>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7" name="Q3 minimum payment" descr="C:\Users\hp\AppData\Local\Temp\claude\d--Data-science-diploma-Mid-project---Copy-Credit-score-classification---EDA-Project\7e4ae109-7c0a-48d0-b0b3-2d899ccc03f6\scratchpad\deck\img\q3_min_amount.png">    </p:cNvPr>
          <p:cNvPicPr>
            <a:picLocks noChangeAspect="1"/>
          </p:cNvPicPr>
          <p:nvPr/>
        </p:nvPicPr>
        <p:blipFill>
          <a:blip r:embed="rId2"/>
          <a:stretch>
            <a:fillRect/>
          </a:stretch>
        </p:blipFill>
        <p:spPr>
          <a:xfrm>
            <a:off x="6263640" y="1508760"/>
            <a:ext cx="5257800" cy="3584864"/>
          </a:xfrm>
          <a:prstGeom prst="rect">
            <a:avLst/>
          </a:prstGeom>
        </p:spPr>
      </p:pic>
      <p:sp>
        <p:nvSpPr>
          <p:cNvPr id="8" name="answer card"/>
          <p:cNvSpPr/>
          <p:nvPr/>
        </p:nvSpPr>
        <p:spPr>
          <a:xfrm>
            <a:off x="548640" y="5257800"/>
            <a:ext cx="11064240" cy="1005840"/>
          </a:xfrm>
          <a:prstGeom prst="roundRect">
            <a:avLst>
              <a:gd name="adj" fmla="val 10909"/>
            </a:avLst>
          </a:prstGeom>
          <a:solidFill>
            <a:srgbClr val="EEF6F8"/>
          </a:solidFill>
          <a:ln w="12700">
            <a:solidFill>
              <a:srgbClr val="EEF6F8"/>
            </a:solidFill>
            <a:prstDash val="solid"/>
          </a:ln>
        </p:spPr>
      </p:sp>
      <p:sp>
        <p:nvSpPr>
          <p:cNvPr id="9" name="answer label"/>
          <p:cNvSpPr txBox="1"/>
          <p:nvPr/>
        </p:nvSpPr>
        <p:spPr>
          <a:xfrm>
            <a:off x="777240" y="5367528"/>
            <a:ext cx="1280160" cy="320040"/>
          </a:xfrm>
          <a:prstGeom prst="rect">
            <a:avLst/>
          </a:prstGeom>
          <a:noFill/>
          <a:ln/>
        </p:spPr>
        <p:txBody>
          <a:bodyPr wrap="square" lIns="0" tIns="0" rIns="0" bIns="0" rtlCol="0" anchor="ctr"/>
          <a:lstStyle/>
          <a:p>
            <a:pPr indent="0" marL="0">
              <a:buNone/>
            </a:pPr>
            <a:r>
              <a:rPr lang="en-US" sz="1400" b="1" dirty="0">
                <a:solidFill>
                  <a:schemeClr val="accent1"/>
                </a:solidFill>
              </a:rPr>
              <a:t>Answer</a:t>
            </a:r>
            <a:endParaRPr lang="en-US" sz="1400" dirty="0"/>
          </a:p>
        </p:txBody>
      </p:sp>
      <p:sp>
        <p:nvSpPr>
          <p:cNvPr id="10" name="answer"/>
          <p:cNvSpPr txBox="1"/>
          <p:nvPr/>
        </p:nvSpPr>
        <p:spPr>
          <a:xfrm>
            <a:off x="2011680" y="5385816"/>
            <a:ext cx="9418320" cy="8229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Median days late: </a:t>
            </a:r>
            <a:pPr indent="0" marL="0">
              <a:spcAft>
                <a:spcPts val="600"/>
              </a:spcAft>
              <a:buNone/>
            </a:pPr>
            <a:r>
              <a:rPr lang="en-US" sz="1400" b="1" dirty="0">
                <a:solidFill>
                  <a:schemeClr val="tx1"/>
                </a:solidFill>
              </a:rPr>
              <a:t>27 for Poor vs 10 for Good</a:t>
            </a:r>
            <a:pPr indent="0" marL="0">
              <a:spcAft>
                <a:spcPts val="600"/>
              </a:spcAft>
              <a:buNone/>
            </a:pPr>
            <a:r>
              <a:rPr lang="en-US" sz="1400" dirty="0">
                <a:solidFill>
                  <a:schemeClr val="tx1"/>
                </a:solidFill>
              </a:rPr>
              <a:t>; delayed payments 17 vs 8.</a:t>
            </a:r>
            <a:endParaRPr lang="en-US" sz="1400" dirty="0"/>
          </a:p>
          <a:p>
            <a:pPr marL="190500" indent="-190500">
              <a:spcAft>
                <a:spcPts val="600"/>
              </a:spcAft>
              <a:buSzPct val="100000"/>
              <a:buChar char="•"/>
            </a:pPr>
            <a:r>
              <a:rPr lang="en-US" sz="1400" dirty="0">
                <a:solidFill>
                  <a:schemeClr val="tx1"/>
                </a:solidFill>
              </a:rPr>
              <a:t>Paying only the minimum: </a:t>
            </a:r>
            <a:pPr indent="0" marL="0">
              <a:spcAft>
                <a:spcPts val="600"/>
              </a:spcAft>
              <a:buNone/>
            </a:pPr>
            <a:r>
              <a:rPr lang="en-US" sz="1400" b="1" dirty="0">
                <a:solidFill>
                  <a:schemeClr val="tx1"/>
                </a:solidFill>
              </a:rPr>
              <a:t>39.6% Poor and just 3.7% Good</a:t>
            </a:r>
            <a:pPr indent="0" marL="0">
              <a:spcAft>
                <a:spcPts val="600"/>
              </a:spcAft>
              <a:buNone/>
            </a:pPr>
            <a:r>
              <a:rPr lang="en-US" sz="1400" dirty="0">
                <a:solidFill>
                  <a:schemeClr val="tx1"/>
                </a:solidFill>
              </a:rPr>
              <a:t> — paying more: 38.2% Good.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QUESTION 4  ·  HOW DO OUTSTANDING DEBT AND INTEREST RATE DIFFER BETWEEN SCORE GROUPS?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Poor scores carry more debt at higher rates</a:t>
            </a:r>
            <a:endParaRPr lang="en-US" sz="3200" dirty="0"/>
          </a:p>
        </p:txBody>
      </p:sp>
      <p:sp>
        <p:nvSpPr>
          <p:cNvPr id="4" name="Q4 debt box frame"/>
          <p:cNvSpPr/>
          <p:nvPr/>
        </p:nvSpPr>
        <p:spPr>
          <a:xfrm>
            <a:off x="612648" y="1435608"/>
            <a:ext cx="5404104" cy="3731168"/>
          </a:xfrm>
          <a:prstGeom prst="roundRect">
            <a:avLst>
              <a:gd name="adj" fmla="val 2451"/>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Q4 debt box" descr="C:\Users\hp\AppData\Local\Temp\claude\d--Data-science-diploma-Mid-project---Copy-Credit-score-classification---EDA-Project\7e4ae109-7c0a-48d0-b0b3-2d899ccc03f6\scratchpad\deck\img\q4_debt_box.png">    </p:cNvPr>
          <p:cNvPicPr>
            <a:picLocks noChangeAspect="1"/>
          </p:cNvPicPr>
          <p:nvPr/>
        </p:nvPicPr>
        <p:blipFill>
          <a:blip r:embed="rId1"/>
          <a:stretch>
            <a:fillRect/>
          </a:stretch>
        </p:blipFill>
        <p:spPr>
          <a:xfrm>
            <a:off x="685800" y="1508760"/>
            <a:ext cx="5257800" cy="3584864"/>
          </a:xfrm>
          <a:prstGeom prst="rect">
            <a:avLst/>
          </a:prstGeom>
        </p:spPr>
      </p:pic>
      <p:sp>
        <p:nvSpPr>
          <p:cNvPr id="6" name="Q4 scatter frame"/>
          <p:cNvSpPr/>
          <p:nvPr/>
        </p:nvSpPr>
        <p:spPr>
          <a:xfrm>
            <a:off x="6190488" y="1435608"/>
            <a:ext cx="5404104" cy="3731168"/>
          </a:xfrm>
          <a:prstGeom prst="roundRect">
            <a:avLst>
              <a:gd name="adj" fmla="val 2451"/>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7" name="Q4 scatter" descr="C:\Users\hp\AppData\Local\Temp\claude\d--Data-science-diploma-Mid-project---Copy-Credit-score-classification---EDA-Project\7e4ae109-7c0a-48d0-b0b3-2d899ccc03f6\scratchpad\deck\img\q4_scatter.png">    </p:cNvPr>
          <p:cNvPicPr>
            <a:picLocks noChangeAspect="1"/>
          </p:cNvPicPr>
          <p:nvPr/>
        </p:nvPicPr>
        <p:blipFill>
          <a:blip r:embed="rId2"/>
          <a:stretch>
            <a:fillRect/>
          </a:stretch>
        </p:blipFill>
        <p:spPr>
          <a:xfrm>
            <a:off x="6263640" y="1508760"/>
            <a:ext cx="5257800" cy="3584864"/>
          </a:xfrm>
          <a:prstGeom prst="rect">
            <a:avLst/>
          </a:prstGeom>
        </p:spPr>
      </p:pic>
      <p:sp>
        <p:nvSpPr>
          <p:cNvPr id="8" name="answer card"/>
          <p:cNvSpPr/>
          <p:nvPr/>
        </p:nvSpPr>
        <p:spPr>
          <a:xfrm>
            <a:off x="548640" y="5257800"/>
            <a:ext cx="11064240" cy="1005840"/>
          </a:xfrm>
          <a:prstGeom prst="roundRect">
            <a:avLst>
              <a:gd name="adj" fmla="val 10909"/>
            </a:avLst>
          </a:prstGeom>
          <a:solidFill>
            <a:srgbClr val="EEF6F8"/>
          </a:solidFill>
          <a:ln w="12700">
            <a:solidFill>
              <a:srgbClr val="EEF6F8"/>
            </a:solidFill>
            <a:prstDash val="solid"/>
          </a:ln>
        </p:spPr>
      </p:sp>
      <p:sp>
        <p:nvSpPr>
          <p:cNvPr id="9" name="answer label"/>
          <p:cNvSpPr txBox="1"/>
          <p:nvPr/>
        </p:nvSpPr>
        <p:spPr>
          <a:xfrm>
            <a:off x="777240" y="5367528"/>
            <a:ext cx="1280160" cy="320040"/>
          </a:xfrm>
          <a:prstGeom prst="rect">
            <a:avLst/>
          </a:prstGeom>
          <a:noFill/>
          <a:ln/>
        </p:spPr>
        <p:txBody>
          <a:bodyPr wrap="square" lIns="0" tIns="0" rIns="0" bIns="0" rtlCol="0" anchor="ctr"/>
          <a:lstStyle/>
          <a:p>
            <a:pPr indent="0" marL="0">
              <a:buNone/>
            </a:pPr>
            <a:r>
              <a:rPr lang="en-US" sz="1400" b="1" dirty="0">
                <a:solidFill>
                  <a:schemeClr val="accent1"/>
                </a:solidFill>
              </a:rPr>
              <a:t>Answer</a:t>
            </a:r>
            <a:endParaRPr lang="en-US" sz="1400" dirty="0"/>
          </a:p>
        </p:txBody>
      </p:sp>
      <p:sp>
        <p:nvSpPr>
          <p:cNvPr id="10" name="answer"/>
          <p:cNvSpPr txBox="1"/>
          <p:nvPr/>
        </p:nvSpPr>
        <p:spPr>
          <a:xfrm>
            <a:off x="2011680" y="5385816"/>
            <a:ext cx="9418320" cy="8229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Median debt: </a:t>
            </a:r>
            <a:pPr indent="0" marL="0">
              <a:spcAft>
                <a:spcPts val="600"/>
              </a:spcAft>
              <a:buNone/>
            </a:pPr>
            <a:r>
              <a:rPr lang="en-US" sz="1400" b="1" dirty="0">
                <a:solidFill>
                  <a:schemeClr val="tx1"/>
                </a:solidFill>
              </a:rPr>
              <a:t>$1,945 Poor vs $734 Good (≈ 2.6×)</a:t>
            </a:r>
            <a:pPr indent="0" marL="0">
              <a:spcAft>
                <a:spcPts val="600"/>
              </a:spcAft>
              <a:buNone/>
            </a:pPr>
            <a:r>
              <a:rPr lang="en-US" sz="1400" dirty="0">
                <a:solidFill>
                  <a:schemeClr val="tx1"/>
                </a:solidFill>
              </a:rPr>
              <a:t>. Median interest rate: </a:t>
            </a:r>
            <a:pPr indent="0" marL="0">
              <a:spcAft>
                <a:spcPts val="600"/>
              </a:spcAft>
              <a:buNone/>
            </a:pPr>
            <a:r>
              <a:rPr lang="en-US" sz="1400" b="1" dirty="0">
                <a:solidFill>
                  <a:schemeClr val="tx1"/>
                </a:solidFill>
              </a:rPr>
              <a:t>21% vs 7%.</a:t>
            </a:r>
            <a:endParaRPr lang="en-US" sz="1400" dirty="0"/>
          </a:p>
          <a:p>
            <a:pPr marL="190500" indent="-190500">
              <a:spcAft>
                <a:spcPts val="600"/>
              </a:spcAft>
              <a:buSzPct val="100000"/>
              <a:buChar char="•"/>
            </a:pPr>
            <a:r>
              <a:rPr lang="en-US" sz="1400" dirty="0">
                <a:solidFill>
                  <a:schemeClr val="tx1"/>
                </a:solidFill>
              </a:rPr>
              <a:t>Good scores cluster in the low-debt, low-interest corner. Credit utilization (~32%) is the same for every group.</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QUESTION 5  ·  DOES HAVING MORE CREDIT CARDS, BANK ACCOUNTS OR LOANS WORSEN THE SCORE?</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More cards, accounts and loans mean more risk</a:t>
            </a:r>
            <a:endParaRPr lang="en-US" sz="3200" dirty="0"/>
          </a:p>
        </p:txBody>
      </p:sp>
      <p:sp>
        <p:nvSpPr>
          <p:cNvPr id="4" name="Q5 poor rate frame"/>
          <p:cNvSpPr/>
          <p:nvPr/>
        </p:nvSpPr>
        <p:spPr>
          <a:xfrm>
            <a:off x="612648" y="1435608"/>
            <a:ext cx="7370064" cy="3998976"/>
          </a:xfrm>
          <a:prstGeom prst="roundRect">
            <a:avLst>
              <a:gd name="adj" fmla="val 2287"/>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Q5 poor rate" descr="C:\Users\hp\AppData\Local\Temp\claude\d--Data-science-diploma-Mid-project---Copy-Credit-score-classification---EDA-Project\7e4ae109-7c0a-48d0-b0b3-2d899ccc03f6\scratchpad\deck\img\q5_poor_rate.png">    </p:cNvPr>
          <p:cNvPicPr>
            <a:picLocks noChangeAspect="1"/>
          </p:cNvPicPr>
          <p:nvPr/>
        </p:nvPicPr>
        <p:blipFill>
          <a:blip r:embed="rId1"/>
          <a:stretch>
            <a:fillRect/>
          </a:stretch>
        </p:blipFill>
        <p:spPr>
          <a:xfrm>
            <a:off x="685800" y="1508760"/>
            <a:ext cx="7223760" cy="3852672"/>
          </a:xfrm>
          <a:prstGeom prst="rect">
            <a:avLst/>
          </a:prstGeom>
        </p:spPr>
      </p:pic>
      <p:sp>
        <p:nvSpPr>
          <p:cNvPr id="6" name="caption"/>
          <p:cNvSpPr txBox="1"/>
          <p:nvPr/>
        </p:nvSpPr>
        <p:spPr>
          <a:xfrm>
            <a:off x="685800" y="5486400"/>
            <a:ext cx="7223760" cy="292608"/>
          </a:xfrm>
          <a:prstGeom prst="rect">
            <a:avLst/>
          </a:prstGeom>
          <a:noFill/>
          <a:ln/>
        </p:spPr>
        <p:txBody>
          <a:bodyPr wrap="square" lIns="0" tIns="0" rIns="0" bIns="0" rtlCol="0" anchor="ctr"/>
          <a:lstStyle/>
          <a:p>
            <a:pPr indent="0" marL="0">
              <a:buNone/>
            </a:pPr>
            <a:r>
              <a:rPr lang="en-US" sz="1100" i="1" dirty="0">
                <a:solidFill>
                  <a:srgbClr val="64748B"/>
                </a:solidFill>
              </a:rPr>
              <a:t>% of Poor credit scores by number of credit products</a:t>
            </a:r>
            <a:endParaRPr lang="en-US" sz="1100" dirty="0"/>
          </a:p>
        </p:txBody>
      </p:sp>
      <p:sp>
        <p:nvSpPr>
          <p:cNvPr id="7" name="q5 cards low value"/>
          <p:cNvSpPr txBox="1"/>
          <p:nvPr/>
        </p:nvSpPr>
        <p:spPr>
          <a:xfrm>
            <a:off x="8412480" y="1554480"/>
            <a:ext cx="3200400" cy="68580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0.4%</a:t>
            </a:r>
            <a:endParaRPr lang="en-US" sz="4000" dirty="0"/>
          </a:p>
        </p:txBody>
      </p:sp>
      <p:sp>
        <p:nvSpPr>
          <p:cNvPr id="8" name="q5 cards low label"/>
          <p:cNvSpPr txBox="1"/>
          <p:nvPr/>
        </p:nvSpPr>
        <p:spPr>
          <a:xfrm>
            <a:off x="8412480" y="2240280"/>
            <a:ext cx="3200400" cy="457200"/>
          </a:xfrm>
          <a:prstGeom prst="rect">
            <a:avLst/>
          </a:prstGeom>
          <a:noFill/>
          <a:ln/>
        </p:spPr>
        <p:txBody>
          <a:bodyPr wrap="square" lIns="0" tIns="0" rIns="0" bIns="0" rtlCol="0" anchor="t"/>
          <a:lstStyle/>
          <a:p>
            <a:pPr indent="0" marL="0">
              <a:buNone/>
            </a:pPr>
            <a:r>
              <a:rPr lang="en-US" sz="1300" dirty="0">
                <a:solidFill>
                  <a:srgbClr val="64748B"/>
                </a:solidFill>
              </a:rPr>
              <a:t>Poor with 0–2 credit cards</a:t>
            </a:r>
            <a:endParaRPr lang="en-US" sz="1300" dirty="0"/>
          </a:p>
        </p:txBody>
      </p:sp>
      <p:sp>
        <p:nvSpPr>
          <p:cNvPr id="9" name="q5 cards high value"/>
          <p:cNvSpPr txBox="1"/>
          <p:nvPr/>
        </p:nvSpPr>
        <p:spPr>
          <a:xfrm>
            <a:off x="8412480" y="2788920"/>
            <a:ext cx="320040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62.7%</a:t>
            </a:r>
            <a:endParaRPr lang="en-US" sz="4000" dirty="0"/>
          </a:p>
        </p:txBody>
      </p:sp>
      <p:sp>
        <p:nvSpPr>
          <p:cNvPr id="10" name="q5 cards high label"/>
          <p:cNvSpPr txBox="1"/>
          <p:nvPr/>
        </p:nvSpPr>
        <p:spPr>
          <a:xfrm>
            <a:off x="8412480" y="3474720"/>
            <a:ext cx="3200400" cy="457200"/>
          </a:xfrm>
          <a:prstGeom prst="rect">
            <a:avLst/>
          </a:prstGeom>
          <a:noFill/>
          <a:ln/>
        </p:spPr>
        <p:txBody>
          <a:bodyPr wrap="square" lIns="0" tIns="0" rIns="0" bIns="0" rtlCol="0" anchor="t"/>
          <a:lstStyle/>
          <a:p>
            <a:pPr indent="0" marL="0">
              <a:buNone/>
            </a:pPr>
            <a:r>
              <a:rPr lang="en-US" sz="1300" dirty="0">
                <a:solidFill>
                  <a:srgbClr val="64748B"/>
                </a:solidFill>
              </a:rPr>
              <a:t>Poor with 8+ credit cards</a:t>
            </a:r>
            <a:endParaRPr lang="en-US" sz="1300" dirty="0"/>
          </a:p>
        </p:txBody>
      </p:sp>
      <p:sp>
        <p:nvSpPr>
          <p:cNvPr id="11" name="q5 loans value"/>
          <p:cNvSpPr txBox="1"/>
          <p:nvPr/>
        </p:nvSpPr>
        <p:spPr>
          <a:xfrm>
            <a:off x="8412480" y="4023360"/>
            <a:ext cx="320040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52.2%</a:t>
            </a:r>
            <a:endParaRPr lang="en-US" sz="4000" dirty="0"/>
          </a:p>
        </p:txBody>
      </p:sp>
      <p:sp>
        <p:nvSpPr>
          <p:cNvPr id="12" name="q5 loans label"/>
          <p:cNvSpPr txBox="1"/>
          <p:nvPr/>
        </p:nvSpPr>
        <p:spPr>
          <a:xfrm>
            <a:off x="8412480" y="4709160"/>
            <a:ext cx="3200400" cy="457200"/>
          </a:xfrm>
          <a:prstGeom prst="rect">
            <a:avLst/>
          </a:prstGeom>
          <a:noFill/>
          <a:ln/>
        </p:spPr>
        <p:txBody>
          <a:bodyPr wrap="square" lIns="0" tIns="0" rIns="0" bIns="0" rtlCol="0" anchor="t"/>
          <a:lstStyle/>
          <a:p>
            <a:pPr indent="0" marL="0">
              <a:buNone/>
            </a:pPr>
            <a:r>
              <a:rPr lang="en-US" sz="1300" dirty="0">
                <a:solidFill>
                  <a:srgbClr val="64748B"/>
                </a:solidFill>
              </a:rPr>
              <a:t>Poor with 5+ loans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QUESTION 6  ·  DO A LONGER CREDIT HISTORY AND A BETTER CREDIT MIX MEAN A BETTER SCORE?</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Long history and good credit mix mean Good</a:t>
            </a:r>
            <a:endParaRPr lang="en-US" sz="3200" dirty="0"/>
          </a:p>
        </p:txBody>
      </p:sp>
      <p:sp>
        <p:nvSpPr>
          <p:cNvPr id="4" name="Q6 history histogram frame"/>
          <p:cNvSpPr/>
          <p:nvPr/>
        </p:nvSpPr>
        <p:spPr>
          <a:xfrm>
            <a:off x="612648" y="1435608"/>
            <a:ext cx="5404104" cy="3731168"/>
          </a:xfrm>
          <a:prstGeom prst="roundRect">
            <a:avLst>
              <a:gd name="adj" fmla="val 2451"/>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Q6 history histogram" descr="C:\Users\hp\AppData\Local\Temp\claude\d--Data-science-diploma-Mid-project---Copy-Credit-score-classification---EDA-Project\7e4ae109-7c0a-48d0-b0b3-2d899ccc03f6\scratchpad\deck\img\q6_history_hist.png">    </p:cNvPr>
          <p:cNvPicPr>
            <a:picLocks noChangeAspect="1"/>
          </p:cNvPicPr>
          <p:nvPr/>
        </p:nvPicPr>
        <p:blipFill>
          <a:blip r:embed="rId1"/>
          <a:stretch>
            <a:fillRect/>
          </a:stretch>
        </p:blipFill>
        <p:spPr>
          <a:xfrm>
            <a:off x="685800" y="1508760"/>
            <a:ext cx="5257800" cy="3584864"/>
          </a:xfrm>
          <a:prstGeom prst="rect">
            <a:avLst/>
          </a:prstGeom>
        </p:spPr>
      </p:pic>
      <p:sp>
        <p:nvSpPr>
          <p:cNvPr id="6" name="Q6 credit mix frame"/>
          <p:cNvSpPr/>
          <p:nvPr/>
        </p:nvSpPr>
        <p:spPr>
          <a:xfrm>
            <a:off x="6190488" y="1435608"/>
            <a:ext cx="5404104" cy="3731168"/>
          </a:xfrm>
          <a:prstGeom prst="roundRect">
            <a:avLst>
              <a:gd name="adj" fmla="val 2451"/>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7" name="Q6 credit mix" descr="C:\Users\hp\AppData\Local\Temp\claude\d--Data-science-diploma-Mid-project---Copy-Credit-score-classification---EDA-Project\7e4ae109-7c0a-48d0-b0b3-2d899ccc03f6\scratchpad\deck\img\q6_credit_mix.png">    </p:cNvPr>
          <p:cNvPicPr>
            <a:picLocks noChangeAspect="1"/>
          </p:cNvPicPr>
          <p:nvPr/>
        </p:nvPicPr>
        <p:blipFill>
          <a:blip r:embed="rId2"/>
          <a:stretch>
            <a:fillRect/>
          </a:stretch>
        </p:blipFill>
        <p:spPr>
          <a:xfrm>
            <a:off x="6263640" y="1508760"/>
            <a:ext cx="5257800" cy="3584864"/>
          </a:xfrm>
          <a:prstGeom prst="rect">
            <a:avLst/>
          </a:prstGeom>
        </p:spPr>
      </p:pic>
      <p:sp>
        <p:nvSpPr>
          <p:cNvPr id="8" name="answer card"/>
          <p:cNvSpPr/>
          <p:nvPr/>
        </p:nvSpPr>
        <p:spPr>
          <a:xfrm>
            <a:off x="548640" y="5257800"/>
            <a:ext cx="11064240" cy="1005840"/>
          </a:xfrm>
          <a:prstGeom prst="roundRect">
            <a:avLst>
              <a:gd name="adj" fmla="val 10909"/>
            </a:avLst>
          </a:prstGeom>
          <a:solidFill>
            <a:srgbClr val="EEF6F8"/>
          </a:solidFill>
          <a:ln w="12700">
            <a:solidFill>
              <a:srgbClr val="EEF6F8"/>
            </a:solidFill>
            <a:prstDash val="solid"/>
          </a:ln>
        </p:spPr>
      </p:sp>
      <p:sp>
        <p:nvSpPr>
          <p:cNvPr id="9" name="answer label"/>
          <p:cNvSpPr txBox="1"/>
          <p:nvPr/>
        </p:nvSpPr>
        <p:spPr>
          <a:xfrm>
            <a:off x="777240" y="5367528"/>
            <a:ext cx="1280160" cy="320040"/>
          </a:xfrm>
          <a:prstGeom prst="rect">
            <a:avLst/>
          </a:prstGeom>
          <a:noFill/>
          <a:ln/>
        </p:spPr>
        <p:txBody>
          <a:bodyPr wrap="square" lIns="0" tIns="0" rIns="0" bIns="0" rtlCol="0" anchor="ctr"/>
          <a:lstStyle/>
          <a:p>
            <a:pPr indent="0" marL="0">
              <a:buNone/>
            </a:pPr>
            <a:r>
              <a:rPr lang="en-US" sz="1400" b="1" dirty="0">
                <a:solidFill>
                  <a:schemeClr val="accent1"/>
                </a:solidFill>
              </a:rPr>
              <a:t>Answer</a:t>
            </a:r>
            <a:endParaRPr lang="en-US" sz="1400" dirty="0"/>
          </a:p>
        </p:txBody>
      </p:sp>
      <p:sp>
        <p:nvSpPr>
          <p:cNvPr id="10" name="answer"/>
          <p:cNvSpPr txBox="1"/>
          <p:nvPr/>
        </p:nvSpPr>
        <p:spPr>
          <a:xfrm>
            <a:off x="2011680" y="5385816"/>
            <a:ext cx="9418320" cy="8229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Median credit history: </a:t>
            </a:r>
            <a:pPr indent="0" marL="0">
              <a:spcAft>
                <a:spcPts val="600"/>
              </a:spcAft>
              <a:buNone/>
            </a:pPr>
            <a:r>
              <a:rPr lang="en-US" sz="1400" b="1" dirty="0">
                <a:solidFill>
                  <a:schemeClr val="tx1"/>
                </a:solidFill>
              </a:rPr>
              <a:t>13 years Poor · 19 years Standard · 24 years Good.</a:t>
            </a:r>
            <a:endParaRPr lang="en-US" sz="1400" dirty="0"/>
          </a:p>
          <a:p>
            <a:pPr marL="190500" indent="-190500">
              <a:spcAft>
                <a:spcPts val="600"/>
              </a:spcAft>
              <a:buSzPct val="100000"/>
              <a:buChar char="•"/>
            </a:pPr>
            <a:r>
              <a:rPr lang="en-US" sz="1400" dirty="0">
                <a:solidFill>
                  <a:schemeClr val="tx1"/>
                </a:solidFill>
              </a:rPr>
              <a:t>Bad credit mix: </a:t>
            </a:r>
            <a:pPr indent="0" marL="0">
              <a:spcAft>
                <a:spcPts val="600"/>
              </a:spcAft>
              <a:buNone/>
            </a:pPr>
            <a:r>
              <a:rPr lang="en-US" sz="1400" b="1" dirty="0">
                <a:solidFill>
                  <a:schemeClr val="tx1"/>
                </a:solidFill>
              </a:rPr>
              <a:t>60.1% Poor, 1.5% Good</a:t>
            </a:r>
            <a:pPr indent="0" marL="0">
              <a:spcAft>
                <a:spcPts val="600"/>
              </a:spcAft>
              <a:buNone/>
            </a:pPr>
            <a:r>
              <a:rPr lang="en-US" sz="1400" dirty="0">
                <a:solidFill>
                  <a:schemeClr val="tx1"/>
                </a:solidFill>
              </a:rPr>
              <a:t> — Good credit mix: </a:t>
            </a:r>
            <a:pPr indent="0" marL="0">
              <a:spcAft>
                <a:spcPts val="600"/>
              </a:spcAft>
              <a:buNone/>
            </a:pPr>
            <a:r>
              <a:rPr lang="en-US" sz="1400" b="1" dirty="0">
                <a:solidFill>
                  <a:schemeClr val="tx1"/>
                </a:solidFill>
              </a:rPr>
              <a:t>48.7% Good</a:t>
            </a:r>
            <a:pPr indent="0" marL="0">
              <a:spcAft>
                <a:spcPts val="600"/>
              </a:spcAft>
              <a:buNone/>
            </a:pPr>
            <a:r>
              <a:rPr lang="en-US" sz="1400" dirty="0">
                <a:solidFill>
                  <a:schemeClr val="tx1"/>
                </a:solidFill>
              </a:rPr>
              <a:t>. The biggest gap of any category.</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CONCLUSIONS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Behaviour matters far more than who you are</a:t>
            </a:r>
            <a:endParaRPr lang="en-US" sz="3200" dirty="0"/>
          </a:p>
        </p:txBody>
      </p:sp>
      <p:graphicFrame>
        <p:nvGraphicFramePr>
          <p:cNvPr id="4" name="segment chart" descr=""/>
          <p:cNvGraphicFramePr/>
          <p:nvPr/>
        </p:nvGraphicFramePr>
        <p:xfrm>
          <a:off x="548640" y="141732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conclusions card"/>
          <p:cNvSpPr/>
          <p:nvPr/>
        </p:nvSpPr>
        <p:spPr>
          <a:xfrm>
            <a:off x="7680960" y="1417320"/>
            <a:ext cx="3931920" cy="4663440"/>
          </a:xfrm>
          <a:prstGeom prst="roundRect">
            <a:avLst>
              <a:gd name="adj" fmla="val 2791"/>
            </a:avLst>
          </a:prstGeom>
          <a:solidFill>
            <a:srgbClr val="EEF6F8"/>
          </a:solidFill>
          <a:ln w="12700">
            <a:solidFill>
              <a:srgbClr val="EEF6F8"/>
            </a:solidFill>
            <a:prstDash val="solid"/>
          </a:ln>
        </p:spPr>
      </p:sp>
      <p:sp>
        <p:nvSpPr>
          <p:cNvPr id="6" name="conclusions"/>
          <p:cNvSpPr txBox="1"/>
          <p:nvPr/>
        </p:nvSpPr>
        <p:spPr>
          <a:xfrm>
            <a:off x="7955280" y="1691640"/>
            <a:ext cx="3429000" cy="4206240"/>
          </a:xfrm>
          <a:prstGeom prst="rect">
            <a:avLst/>
          </a:prstGeom>
          <a:noFill/>
          <a:ln/>
        </p:spPr>
        <p:txBody>
          <a:bodyPr wrap="square" lIns="0" tIns="0" rIns="0" bIns="0" rtlCol="0" anchor="t"/>
          <a:lstStyle/>
          <a:p>
            <a:pPr marL="190500" indent="-190500">
              <a:spcAft>
                <a:spcPts val="600"/>
              </a:spcAft>
              <a:buSzPct val="100000"/>
              <a:buChar char="•"/>
            </a:pPr>
            <a:r>
              <a:rPr lang="en-US" sz="1500" b="1" dirty="0">
                <a:solidFill>
                  <a:schemeClr val="tx1"/>
                </a:solidFill>
              </a:rPr>
              <a:t>Strongest signals: </a:t>
            </a:r>
            <a:pPr indent="0" marL="0">
              <a:spcAft>
                <a:spcPts val="600"/>
              </a:spcAft>
              <a:buNone/>
            </a:pPr>
            <a:r>
              <a:rPr lang="en-US" sz="1500" dirty="0">
                <a:solidFill>
                  <a:schemeClr val="tx1"/>
                </a:solidFill>
              </a:rPr>
              <a:t>credit mix, minimum-only payments, days late, debt, interest rate, number of credit products.</a:t>
            </a:r>
            <a:endParaRPr lang="en-US" sz="1500" dirty="0"/>
          </a:p>
          <a:p>
            <a:pPr marL="190500" indent="-190500">
              <a:spcAft>
                <a:spcPts val="600"/>
              </a:spcAft>
              <a:buSzPct val="100000"/>
              <a:buChar char="•"/>
            </a:pPr>
            <a:r>
              <a:rPr lang="en-US" sz="1500" b="1" dirty="0">
                <a:solidFill>
                  <a:schemeClr val="tx1"/>
                </a:solidFill>
              </a:rPr>
              <a:t>Helps: </a:t>
            </a:r>
            <a:pPr indent="0" marL="0">
              <a:spcAft>
                <a:spcPts val="600"/>
              </a:spcAft>
              <a:buNone/>
            </a:pPr>
            <a:r>
              <a:rPr lang="en-US" sz="1500" dirty="0">
                <a:solidFill>
                  <a:schemeClr val="tx1"/>
                </a:solidFill>
              </a:rPr>
              <a:t>higher income and a longer credit history.</a:t>
            </a:r>
            <a:endParaRPr lang="en-US" sz="1500" dirty="0"/>
          </a:p>
          <a:p>
            <a:pPr marL="190500" indent="-190500">
              <a:spcAft>
                <a:spcPts val="600"/>
              </a:spcAft>
              <a:buSzPct val="100000"/>
              <a:buChar char="•"/>
            </a:pPr>
            <a:r>
              <a:rPr lang="en-US" sz="1500" b="1" dirty="0">
                <a:solidFill>
                  <a:schemeClr val="tx1"/>
                </a:solidFill>
              </a:rPr>
              <a:t>Weak: </a:t>
            </a:r>
            <a:pPr indent="0" marL="0">
              <a:spcAft>
                <a:spcPts val="600"/>
              </a:spcAft>
              <a:buNone/>
            </a:pPr>
            <a:r>
              <a:rPr lang="en-US" sz="1500" dirty="0">
                <a:solidFill>
                  <a:schemeClr val="tx1"/>
                </a:solidFill>
              </a:rPr>
              <a:t>occupation (26–31% Poor in every job).</a:t>
            </a:r>
            <a:endParaRPr lang="en-US" sz="1500" dirty="0"/>
          </a:p>
          <a:p>
            <a:pPr marL="190500" indent="-190500">
              <a:spcAft>
                <a:spcPts val="600"/>
              </a:spcAft>
              <a:buSzPct val="100000"/>
              <a:buChar char="•"/>
            </a:pPr>
            <a:r>
              <a:rPr lang="en-US" sz="1500" b="1" dirty="0">
                <a:solidFill>
                  <a:schemeClr val="tx1"/>
                </a:solidFill>
              </a:rPr>
              <a:t>Recommendation: </a:t>
            </a:r>
            <a:pPr indent="0" marL="0">
              <a:spcAft>
                <a:spcPts val="600"/>
              </a:spcAft>
              <a:buNone/>
            </a:pPr>
            <a:r>
              <a:rPr lang="en-US" sz="1500" dirty="0">
                <a:solidFill>
                  <a:schemeClr val="tx1"/>
                </a:solidFill>
              </a:rPr>
              <a:t>assess customers on how they use credit, not on demographics.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PROJECT CRITERIA</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the project meets each criterion</a:t>
            </a:r>
            <a:endParaRPr lang="en-US" sz="3200" dirty="0"/>
          </a:p>
        </p:txBody>
      </p:sp>
      <p:graphicFrame>
        <p:nvGraphicFramePr>
          <p:cNvPr id="21" name="criteri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8321040"/>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B3B4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 in this project</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B3B4A"/>
                    </a:solidFill>
                  </a:tcPr>
                </a:tc>
              </a:tr>
              <a:tr h="621792">
                <a:tc>
                  <a:txBody>
                    <a:bodyPr/>
                    <a:lstStyle/>
                    <a:p>
                      <a:pPr indent="0" marL="0">
                        <a:buNone/>
                      </a:pPr>
                      <a:r>
                        <a:rPr lang="en-US" sz="1400" b="1" dirty="0">
                          <a:solidFill>
                            <a:srgbClr val="0B3B4A"/>
                          </a:solidFill>
                          <a:latin typeface="Calibri" pitchFamily="34" charset="0"/>
                          <a:ea typeface="Calibri" pitchFamily="34" charset="-122"/>
                          <a:cs typeface="Calibri" pitchFamily="34" charset="-120"/>
                        </a:rPr>
                        <a:t>Code functionality</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400" dirty="0">
                          <a:solidFill>
                            <a:srgbClr val="0F172A"/>
                          </a:solidFill>
                          <a:latin typeface="Calibri" pitchFamily="34" charset="0"/>
                          <a:ea typeface="Calibri" pitchFamily="34" charset="-122"/>
                          <a:cs typeface="Calibri" pitchFamily="34" charset="-120"/>
                        </a:rPr>
                        <a:t>Notebook runs top to bottom with no errors; reusable functions (impute_by_customer, fix_customer_spikes, plot helpers); commented code</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621792">
                <a:tc>
                  <a:txBody>
                    <a:bodyPr/>
                    <a:lstStyle/>
                    <a:p>
                      <a:pPr indent="0" marL="0">
                        <a:buNone/>
                      </a:pPr>
                      <a:r>
                        <a:rPr lang="en-US" sz="1400" b="1" dirty="0">
                          <a:solidFill>
                            <a:srgbClr val="0B3B4A"/>
                          </a:solidFill>
                          <a:latin typeface="Calibri" pitchFamily="34" charset="0"/>
                          <a:ea typeface="Calibri" pitchFamily="34" charset="-122"/>
                          <a:cs typeface="Calibri" pitchFamily="34" charset="-120"/>
                        </a:rPr>
                        <a:t>Quality of analysis</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0F172A"/>
                          </a:solidFill>
                          <a:latin typeface="Calibri" pitchFamily="34" charset="0"/>
                          <a:ea typeface="Calibri" pitchFamily="34" charset="-122"/>
                          <a:cs typeface="Calibri" pitchFamily="34" charset="-120"/>
                        </a:rPr>
                        <a:t>Six questions stated up front and each answered with numbers</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0B3B4A"/>
                          </a:solidFill>
                          <a:latin typeface="Calibri" pitchFamily="34" charset="0"/>
                          <a:ea typeface="Calibri" pitchFamily="34" charset="-122"/>
                          <a:cs typeface="Calibri" pitchFamily="34" charset="-120"/>
                        </a:rPr>
                        <a:t>Data cleaning</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400" dirty="0">
                          <a:solidFill>
                            <a:srgbClr val="0F172A"/>
                          </a:solidFill>
                          <a:latin typeface="Calibri" pitchFamily="34" charset="0"/>
                          <a:ea typeface="Calibri" pitchFamily="34" charset="-122"/>
                          <a:cs typeface="Calibri" pitchFamily="34" charset="-120"/>
                        </a:rPr>
                        <a:t>Every change documented: type fixes, per-customer filling, outliers, dropped columns, engineered column</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621792">
                <a:tc>
                  <a:txBody>
                    <a:bodyPr/>
                    <a:lstStyle/>
                    <a:p>
                      <a:pPr indent="0" marL="0">
                        <a:buNone/>
                      </a:pPr>
                      <a:r>
                        <a:rPr lang="en-US" sz="1400" b="1" dirty="0">
                          <a:solidFill>
                            <a:srgbClr val="0B3B4A"/>
                          </a:solidFill>
                          <a:latin typeface="Calibri" pitchFamily="34" charset="0"/>
                          <a:ea typeface="Calibri" pitchFamily="34" charset="-122"/>
                          <a:cs typeface="Calibri" pitchFamily="34" charset="-120"/>
                        </a:rPr>
                        <a:t>Exploration</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0F172A"/>
                          </a:solidFill>
                          <a:latin typeface="Calibri" pitchFamily="34" charset="0"/>
                          <a:ea typeface="Calibri" pitchFamily="34" charset="-122"/>
                          <a:cs typeface="Calibri" pitchFamily="34" charset="-120"/>
                        </a:rPr>
                        <a:t>7 numeric + 4 categorical columns explored univariately, and against the credit score bivariately</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0B3B4A"/>
                          </a:solidFill>
                          <a:latin typeface="Calibri" pitchFamily="34" charset="0"/>
                          <a:ea typeface="Calibri" pitchFamily="34" charset="-122"/>
                          <a:cs typeface="Calibri" pitchFamily="34" charset="-120"/>
                        </a:rPr>
                        <a:t>Visual variety</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c>
                  <a:txBody>
                    <a:bodyPr/>
                    <a:lstStyle/>
                    <a:p>
                      <a:pPr indent="0" marL="0">
                        <a:buNone/>
                      </a:pPr>
                      <a:r>
                        <a:rPr lang="en-US" sz="1400" dirty="0">
                          <a:solidFill>
                            <a:srgbClr val="0F172A"/>
                          </a:solidFill>
                          <a:latin typeface="Calibri" pitchFamily="34" charset="0"/>
                          <a:ea typeface="Calibri" pitchFamily="34" charset="-122"/>
                          <a:cs typeface="Calibri" pitchFamily="34" charset="-120"/>
                        </a:rPr>
                        <a:t>Pie, histogram, box, bar, stacked bar, scatter, line and heatmap — 8 kinds of plots</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EEF6F8"/>
                    </a:solidFill>
                  </a:tcPr>
                </a:tc>
              </a:tr>
              <a:tr h="621792">
                <a:tc>
                  <a:txBody>
                    <a:bodyPr/>
                    <a:lstStyle/>
                    <a:p>
                      <a:pPr indent="0" marL="0">
                        <a:buNone/>
                      </a:pPr>
                      <a:r>
                        <a:rPr lang="en-US" sz="1400" b="1" dirty="0">
                          <a:solidFill>
                            <a:srgbClr val="0B3B4A"/>
                          </a:solidFill>
                          <a:latin typeface="Calibri" pitchFamily="34" charset="0"/>
                          <a:ea typeface="Calibri" pitchFamily="34" charset="-122"/>
                          <a:cs typeface="Calibri" pitchFamily="34" charset="-120"/>
                        </a:rPr>
                        <a:t>Visualization</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0F172A"/>
                          </a:solidFill>
                          <a:latin typeface="Calibri" pitchFamily="34" charset="0"/>
                          <a:ea typeface="Calibri" pitchFamily="34" charset="-122"/>
                          <a:cs typeface="Calibri" pitchFamily="34" charset="-120"/>
                        </a:rPr>
                        <a:t>Consistent score colours (red / amber / green), labelled axes, sorted categories</a:t>
                      </a:r>
                      <a:endParaRPr lang="en-US" sz="1400" dirty="0">
                        <a:latin typeface="Calibri" charset="0"/>
                        <a:ea typeface="Calibri" charset="0"/>
                        <a:cs typeface="Calibri" charset="0"/>
                      </a:endParaRPr>
                    </a:p>
                  </a:txBody>
                  <a:tcPr marL="127000" marR="127000" marT="50800" marB="50800" anchor="ctr">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228600"/>
            <a:ext cx="110642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STREAMLIT DASHBOARD</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analysis as an interactive app</a:t>
            </a:r>
            <a:endParaRPr lang="en-US" sz="3200" dirty="0"/>
          </a:p>
        </p:txBody>
      </p:sp>
      <p:sp>
        <p:nvSpPr>
          <p:cNvPr id="4" name="dashboard overview screenshot frame"/>
          <p:cNvSpPr/>
          <p:nvPr/>
        </p:nvSpPr>
        <p:spPr>
          <a:xfrm>
            <a:off x="612648" y="1435608"/>
            <a:ext cx="5404104" cy="3432429"/>
          </a:xfrm>
          <a:prstGeom prst="roundRect">
            <a:avLst>
              <a:gd name="adj" fmla="val 2664"/>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5" name="dashboard overview screenshot" descr="C:\Users\hp\AppData\Local\Temp\claude\d--Data-science-diploma-Mid-project---Copy-Credit-score-classification---EDA-Project\7e4ae109-7c0a-48d0-b0b3-2d899ccc03f6\scratchpad\deck\img\shot_overview.png">    </p:cNvPr>
          <p:cNvPicPr>
            <a:picLocks noChangeAspect="1"/>
          </p:cNvPicPr>
          <p:nvPr/>
        </p:nvPicPr>
        <p:blipFill>
          <a:blip r:embed="rId1"/>
          <a:stretch>
            <a:fillRect/>
          </a:stretch>
        </p:blipFill>
        <p:spPr>
          <a:xfrm>
            <a:off x="685800" y="1508760"/>
            <a:ext cx="5257800" cy="3286125"/>
          </a:xfrm>
          <a:prstGeom prst="rect">
            <a:avLst/>
          </a:prstGeom>
        </p:spPr>
      </p:pic>
      <p:sp>
        <p:nvSpPr>
          <p:cNvPr id="6" name="dashboard drivers screenshot frame"/>
          <p:cNvSpPr/>
          <p:nvPr/>
        </p:nvSpPr>
        <p:spPr>
          <a:xfrm>
            <a:off x="6190488" y="1435608"/>
            <a:ext cx="5404104" cy="3432429"/>
          </a:xfrm>
          <a:prstGeom prst="roundRect">
            <a:avLst>
              <a:gd name="adj" fmla="val 2664"/>
            </a:avLst>
          </a:prstGeom>
          <a:solidFill>
            <a:srgbClr val="FFFFFF"/>
          </a:solidFill>
          <a:ln w="9525">
            <a:solidFill>
              <a:srgbClr val="E2E8F0"/>
            </a:solidFill>
            <a:prstDash val="solid"/>
          </a:ln>
          <a:effectLst>
            <a:outerShdw sx="100000" sy="100000" kx="0" ky="0" algn="bl" rotWithShape="0" blurRad="76200" dist="25400" dir="5400000">
              <a:srgbClr val="0F172A">
                <a:alpha val="12000"/>
              </a:srgbClr>
            </a:outerShdw>
          </a:effectLst>
        </p:spPr>
      </p:sp>
      <p:pic>
        <p:nvPicPr>
          <p:cNvPr id="7" name="dashboard drivers screenshot" descr="C:\Users\hp\AppData\Local\Temp\claude\d--Data-science-diploma-Mid-project---Copy-Credit-score-classification---EDA-Project\7e4ae109-7c0a-48d0-b0b3-2d899ccc03f6\scratchpad\deck\img\shot_drivers.png">    </p:cNvPr>
          <p:cNvPicPr>
            <a:picLocks noChangeAspect="1"/>
          </p:cNvPicPr>
          <p:nvPr/>
        </p:nvPicPr>
        <p:blipFill>
          <a:blip r:embed="rId2"/>
          <a:stretch>
            <a:fillRect/>
          </a:stretch>
        </p:blipFill>
        <p:spPr>
          <a:xfrm>
            <a:off x="6263640" y="1508760"/>
            <a:ext cx="5257800" cy="3286125"/>
          </a:xfrm>
          <a:prstGeom prst="rect">
            <a:avLst/>
          </a:prstGeom>
        </p:spPr>
      </p:pic>
      <p:sp>
        <p:nvSpPr>
          <p:cNvPr id="8" name="feature 1 circle"/>
          <p:cNvSpPr/>
          <p:nvPr/>
        </p:nvSpPr>
        <p:spPr>
          <a:xfrm>
            <a:off x="685800" y="5074920"/>
            <a:ext cx="594360" cy="594360"/>
          </a:xfrm>
          <a:prstGeom prst="ellipse">
            <a:avLst/>
          </a:prstGeom>
          <a:solidFill>
            <a:srgbClr val="0E7490"/>
          </a:solidFill>
          <a:ln w="12700">
            <a:solidFill>
              <a:srgbClr val="0E7490"/>
            </a:solidFill>
            <a:prstDash val="solid"/>
          </a:ln>
        </p:spPr>
      </p:sp>
      <p:pic>
        <p:nvPicPr>
          <p:cNvPr id="9" name="feature 1 icon" descr="preencoded.png">    </p:cNvPr>
          <p:cNvPicPr>
            <a:picLocks noChangeAspect="1"/>
          </p:cNvPicPr>
          <p:nvPr/>
        </p:nvPicPr>
        <p:blipFill>
          <a:blip r:embed="rId3"/>
          <a:stretch>
            <a:fillRect/>
          </a:stretch>
        </p:blipFill>
        <p:spPr>
          <a:xfrm>
            <a:off x="846277" y="5235397"/>
            <a:ext cx="273406" cy="273406"/>
          </a:xfrm>
          <a:prstGeom prst="rect">
            <a:avLst/>
          </a:prstGeom>
        </p:spPr>
      </p:pic>
      <p:sp>
        <p:nvSpPr>
          <p:cNvPr id="10" name="feature head 1"/>
          <p:cNvSpPr txBox="1"/>
          <p:nvPr/>
        </p:nvSpPr>
        <p:spPr>
          <a:xfrm>
            <a:off x="1417320" y="5029200"/>
            <a:ext cx="2834640" cy="347472"/>
          </a:xfrm>
          <a:prstGeom prst="rect">
            <a:avLst/>
          </a:prstGeom>
          <a:noFill/>
          <a:ln/>
        </p:spPr>
        <p:txBody>
          <a:bodyPr wrap="square" lIns="0" tIns="0" rIns="0" bIns="0" rtlCol="0" anchor="ctr"/>
          <a:lstStyle/>
          <a:p>
            <a:pPr indent="0" marL="0">
              <a:buNone/>
            </a:pPr>
            <a:r>
              <a:rPr lang="en-US" sz="1600" b="1" dirty="0">
                <a:solidFill>
                  <a:schemeClr val="tx2"/>
                </a:solidFill>
              </a:rPr>
              <a:t>Filters</a:t>
            </a:r>
            <a:endParaRPr lang="en-US" sz="1600" dirty="0"/>
          </a:p>
        </p:txBody>
      </p:sp>
      <p:sp>
        <p:nvSpPr>
          <p:cNvPr id="11" name="feature body 1"/>
          <p:cNvSpPr txBox="1"/>
          <p:nvPr/>
        </p:nvSpPr>
        <p:spPr>
          <a:xfrm>
            <a:off x="1417320" y="5376672"/>
            <a:ext cx="2834640" cy="685800"/>
          </a:xfrm>
          <a:prstGeom prst="rect">
            <a:avLst/>
          </a:prstGeom>
          <a:noFill/>
          <a:ln/>
        </p:spPr>
        <p:txBody>
          <a:bodyPr wrap="square" lIns="0" tIns="0" rIns="0" bIns="0" rtlCol="0" anchor="t"/>
          <a:lstStyle/>
          <a:p>
            <a:pPr indent="0" marL="0">
              <a:buNone/>
            </a:pPr>
            <a:r>
              <a:rPr lang="en-US" sz="1300" dirty="0">
                <a:solidFill>
                  <a:schemeClr val="tx1"/>
                </a:solidFill>
              </a:rPr>
              <a:t>Occupation, month and age on every analysis page</a:t>
            </a:r>
            <a:endParaRPr lang="en-US" sz="1300" dirty="0"/>
          </a:p>
        </p:txBody>
      </p:sp>
      <p:sp>
        <p:nvSpPr>
          <p:cNvPr id="12" name="feature 2 circle"/>
          <p:cNvSpPr/>
          <p:nvPr/>
        </p:nvSpPr>
        <p:spPr>
          <a:xfrm>
            <a:off x="4389120" y="5074920"/>
            <a:ext cx="594360" cy="594360"/>
          </a:xfrm>
          <a:prstGeom prst="ellipse">
            <a:avLst/>
          </a:prstGeom>
          <a:solidFill>
            <a:srgbClr val="0E7490"/>
          </a:solidFill>
          <a:ln w="12700">
            <a:solidFill>
              <a:srgbClr val="0E7490"/>
            </a:solidFill>
            <a:prstDash val="solid"/>
          </a:ln>
        </p:spPr>
      </p:sp>
      <p:pic>
        <p:nvPicPr>
          <p:cNvPr id="13" name="feature 2 icon" descr="preencoded.png">    </p:cNvPr>
          <p:cNvPicPr>
            <a:picLocks noChangeAspect="1"/>
          </p:cNvPicPr>
          <p:nvPr/>
        </p:nvPicPr>
        <p:blipFill>
          <a:blip r:embed="rId4"/>
          <a:stretch>
            <a:fillRect/>
          </a:stretch>
        </p:blipFill>
        <p:spPr>
          <a:xfrm>
            <a:off x="4549597" y="5235397"/>
            <a:ext cx="273406" cy="273406"/>
          </a:xfrm>
          <a:prstGeom prst="rect">
            <a:avLst/>
          </a:prstGeom>
        </p:spPr>
      </p:pic>
      <p:sp>
        <p:nvSpPr>
          <p:cNvPr id="14" name="feature head 2"/>
          <p:cNvSpPr txBox="1"/>
          <p:nvPr/>
        </p:nvSpPr>
        <p:spPr>
          <a:xfrm>
            <a:off x="5120640" y="5029200"/>
            <a:ext cx="2834640" cy="347472"/>
          </a:xfrm>
          <a:prstGeom prst="rect">
            <a:avLst/>
          </a:prstGeom>
          <a:noFill/>
          <a:ln/>
        </p:spPr>
        <p:txBody>
          <a:bodyPr wrap="square" lIns="0" tIns="0" rIns="0" bIns="0" rtlCol="0" anchor="ctr"/>
          <a:lstStyle/>
          <a:p>
            <a:pPr indent="0" marL="0">
              <a:buNone/>
            </a:pPr>
            <a:r>
              <a:rPr lang="en-US" sz="1600" b="1" dirty="0">
                <a:solidFill>
                  <a:schemeClr val="tx2"/>
                </a:solidFill>
              </a:rPr>
              <a:t>4 analysis pages</a:t>
            </a:r>
            <a:endParaRPr lang="en-US" sz="1600" dirty="0"/>
          </a:p>
        </p:txBody>
      </p:sp>
      <p:sp>
        <p:nvSpPr>
          <p:cNvPr id="15" name="feature body 2"/>
          <p:cNvSpPr txBox="1"/>
          <p:nvPr/>
        </p:nvSpPr>
        <p:spPr>
          <a:xfrm>
            <a:off x="5120640" y="5376672"/>
            <a:ext cx="2834640" cy="685800"/>
          </a:xfrm>
          <a:prstGeom prst="rect">
            <a:avLst/>
          </a:prstGeom>
          <a:noFill/>
          <a:ln/>
        </p:spPr>
        <p:txBody>
          <a:bodyPr wrap="square" lIns="0" tIns="0" rIns="0" bIns="0" rtlCol="0" anchor="t"/>
          <a:lstStyle/>
          <a:p>
            <a:pPr indent="0" marL="0">
              <a:buNone/>
            </a:pPr>
            <a:r>
              <a:rPr lang="en-US" sz="1300" dirty="0">
                <a:solidFill>
                  <a:schemeClr val="tx1"/>
                </a:solidFill>
              </a:rPr>
              <a:t>Overview, univariate, score drivers, the 6 questions</a:t>
            </a:r>
            <a:endParaRPr lang="en-US" sz="1300" dirty="0"/>
          </a:p>
        </p:txBody>
      </p:sp>
      <p:sp>
        <p:nvSpPr>
          <p:cNvPr id="16" name="feature 3 circle"/>
          <p:cNvSpPr/>
          <p:nvPr/>
        </p:nvSpPr>
        <p:spPr>
          <a:xfrm>
            <a:off x="8092440" y="5074920"/>
            <a:ext cx="594360" cy="594360"/>
          </a:xfrm>
          <a:prstGeom prst="ellipse">
            <a:avLst/>
          </a:prstGeom>
          <a:solidFill>
            <a:srgbClr val="0E7490"/>
          </a:solidFill>
          <a:ln w="12700">
            <a:solidFill>
              <a:srgbClr val="0E7490"/>
            </a:solidFill>
            <a:prstDash val="solid"/>
          </a:ln>
        </p:spPr>
      </p:sp>
      <p:pic>
        <p:nvPicPr>
          <p:cNvPr id="17" name="feature 3 icon" descr="preencoded.png">    </p:cNvPr>
          <p:cNvPicPr>
            <a:picLocks noChangeAspect="1"/>
          </p:cNvPicPr>
          <p:nvPr/>
        </p:nvPicPr>
        <p:blipFill>
          <a:blip r:embed="rId5"/>
          <a:stretch>
            <a:fillRect/>
          </a:stretch>
        </p:blipFill>
        <p:spPr>
          <a:xfrm>
            <a:off x="8252917" y="5235397"/>
            <a:ext cx="273406" cy="273406"/>
          </a:xfrm>
          <a:prstGeom prst="rect">
            <a:avLst/>
          </a:prstGeom>
        </p:spPr>
      </p:pic>
      <p:sp>
        <p:nvSpPr>
          <p:cNvPr id="18" name="feature head 3"/>
          <p:cNvSpPr txBox="1"/>
          <p:nvPr/>
        </p:nvSpPr>
        <p:spPr>
          <a:xfrm>
            <a:off x="8823960" y="5029200"/>
            <a:ext cx="2834640" cy="347472"/>
          </a:xfrm>
          <a:prstGeom prst="rect">
            <a:avLst/>
          </a:prstGeom>
          <a:noFill/>
          <a:ln/>
        </p:spPr>
        <p:txBody>
          <a:bodyPr wrap="square" lIns="0" tIns="0" rIns="0" bIns="0" rtlCol="0" anchor="ctr"/>
          <a:lstStyle/>
          <a:p>
            <a:pPr indent="0" marL="0">
              <a:buNone/>
            </a:pPr>
            <a:r>
              <a:rPr lang="en-US" sz="1600" b="1" dirty="0">
                <a:solidFill>
                  <a:schemeClr val="tx2"/>
                </a:solidFill>
              </a:rPr>
              <a:t>Voice assistant</a:t>
            </a:r>
            <a:endParaRPr lang="en-US" sz="1600" dirty="0"/>
          </a:p>
        </p:txBody>
      </p:sp>
      <p:sp>
        <p:nvSpPr>
          <p:cNvPr id="19" name="feature body 3"/>
          <p:cNvSpPr txBox="1"/>
          <p:nvPr/>
        </p:nvSpPr>
        <p:spPr>
          <a:xfrm>
            <a:off x="8823960" y="5376672"/>
            <a:ext cx="2834640" cy="685800"/>
          </a:xfrm>
          <a:prstGeom prst="rect">
            <a:avLst/>
          </a:prstGeom>
          <a:noFill/>
          <a:ln/>
        </p:spPr>
        <p:txBody>
          <a:bodyPr wrap="square" lIns="0" tIns="0" rIns="0" bIns="0" rtlCol="0" anchor="t"/>
          <a:lstStyle/>
          <a:p>
            <a:pPr indent="0" marL="0">
              <a:buNone/>
            </a:pPr>
            <a:r>
              <a:rPr lang="en-US" sz="1300" dirty="0">
                <a:solidFill>
                  <a:schemeClr val="tx1"/>
                </a:solidFill>
              </a:rPr>
              <a:t>Gemini Live answers in Arabic and draws KPIs and charts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58368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Next: predict the score</a:t>
            </a:r>
            <a:endParaRPr lang="en-US" sz="4400" dirty="0"/>
          </a:p>
        </p:txBody>
      </p:sp>
      <p:sp>
        <p:nvSpPr>
          <p:cNvPr id="3" name="Text 0"/>
          <p:cNvSpPr/>
          <p:nvPr>
            <p:ph idx="101" type="body" hasCustomPrompt="1"/>
          </p:nvPr>
        </p:nvSpPr>
        <p:spPr>
          <a:xfrm>
            <a:off x="640080" y="3886200"/>
            <a:ext cx="6583680" cy="914400"/>
          </a:xfrm>
          <a:prstGeom prst="rect">
            <a:avLst/>
          </a:prstGeom>
          <a:noFill/>
          <a:ln/>
        </p:spPr>
        <p:txBody>
          <a:bodyPr wrap="square" lIns="0" tIns="0" rIns="0" bIns="0" rtlCol="0" anchor="t"/>
          <a:lstStyle/>
          <a:p>
            <a:pPr algn="l" indent="0" marL="0">
              <a:buNone/>
            </a:pPr>
            <a:r>
              <a:rPr lang="en-US" sz="1800" dirty="0">
                <a:solidFill>
                  <a:srgbClr val="CFE9EF"/>
                </a:solidFill>
              </a:rPr>
              <a:t>Use the cleaned train.csv to train a classifier, then predict September – December scores for test.csv. Thank you!</a:t>
            </a:r>
            <a:endParaRPr lang="en-US" sz="1800" dirty="0"/>
          </a:p>
        </p:txBody>
      </p:sp>
      <p:pic>
        <p:nvPicPr>
          <p:cNvPr id="4" name="gauge illustration" descr="preencoded.png">    </p:cNvPr>
          <p:cNvPicPr>
            <a:picLocks noChangeAspect="1"/>
          </p:cNvPicPr>
          <p:nvPr/>
        </p:nvPicPr>
        <p:blipFill>
          <a:blip r:embed="rId1"/>
          <a:stretch>
            <a:fillRect/>
          </a:stretch>
        </p:blipFill>
        <p:spPr>
          <a:xfrm>
            <a:off x="7589520" y="1828800"/>
            <a:ext cx="4114800" cy="2373923"/>
          </a:xfrm>
          <a:prstGeom prst="rect">
            <a:avLst/>
          </a:prstGeom>
        </p:spPr>
      </p:pic>
    </p:spTree>
  </p:cSld>
  <p:clrMapOvr>
    <a:masterClrMapping/>
  </p:clrMapOvr>
</p:sld>
</file>

<file path=ppt/theme/theme1.xml><?xml version="1.0" encoding="utf-8"?>
<a:theme xmlns:a="http://schemas.openxmlformats.org/drawingml/2006/main" name="Credit Teal">
  <a:themeElements>
    <a:clrScheme name="Credit Teal">
      <a:dk1>
        <a:srgbClr val="0F172A"/>
      </a:dk1>
      <a:lt1>
        <a:srgbClr val="FFFFFF"/>
      </a:lt1>
      <a:dk2>
        <a:srgbClr val="0B3B4A"/>
      </a:dk2>
      <a:lt2>
        <a:srgbClr val="EEF6F8"/>
      </a:lt2>
      <a:accent1>
        <a:srgbClr val="0E7490"/>
      </a:accent1>
      <a:accent2>
        <a:srgbClr val="DC2626"/>
      </a:accent2>
      <a:accent3>
        <a:srgbClr val="F59E0B"/>
      </a:accent3>
      <a:accent4>
        <a:srgbClr val="16A34A"/>
      </a:accent4>
      <a:accent5>
        <a:srgbClr val="22D3EE"/>
      </a:accent5>
      <a:accent6>
        <a:srgbClr val="64748B"/>
      </a:accent6>
      <a:hlink>
        <a:srgbClr val="0E7490"/>
      </a:hlink>
      <a:folHlink>
        <a:srgbClr val="164E63"/>
      </a:folHlink>
    </a:clrScheme>
    <a:fontScheme name="Credit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Score Classification — Exploratory Data Analysis</dc:title>
  <dc:subject>Data Science Diploma — Mid Project</dc:subject>
  <dc:creator>Marcellino Ashraf</dc:creator>
  <cp:lastModifiedBy>Marcellino Ashraf</cp:lastModifiedBy>
  <cp:revision>1</cp:revision>
  <dcterms:created xsi:type="dcterms:W3CDTF">2026-10-11T15:56:29Z</dcterms:created>
  <dcterms:modified xsi:type="dcterms:W3CDTF">2026-10-11T15:56:29Z</dcterms:modified>
</cp:coreProperties>
</file>